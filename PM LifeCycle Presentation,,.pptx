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6"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4437" autoAdjust="0"/>
  </p:normalViewPr>
  <p:slideViewPr>
    <p:cSldViewPr snapToGrid="0" snapToObjects="1">
      <p:cViewPr varScale="1">
        <p:scale>
          <a:sx n="97" d="100"/>
          <a:sy n="97" d="100"/>
        </p:scale>
        <p:origin x="1074"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78854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Hello everyone, My</a:t>
            </a:r>
            <a:r>
              <a:rPr lang="en-US" baseline="0" dirty="0" smtClean="0"/>
              <a:t> name </a:t>
            </a:r>
            <a:r>
              <a:rPr lang="en-US" baseline="0" smtClean="0"/>
              <a:t>is </a:t>
            </a:r>
            <a:r>
              <a:rPr lang="en-US" baseline="0" smtClean="0"/>
              <a:t>.., </a:t>
            </a:r>
            <a:r>
              <a:rPr lang="en-US" baseline="0" dirty="0" smtClean="0"/>
              <a:t>working for Equity Community health center as an outreach coordinator</a:t>
            </a:r>
            <a:r>
              <a:rPr lang="en-US" dirty="0" smtClean="0"/>
              <a:t>. </a:t>
            </a:r>
            <a:r>
              <a:rPr lang="en-US" dirty="0"/>
              <a:t>Before </a:t>
            </a:r>
            <a:r>
              <a:rPr lang="en-US" dirty="0" smtClean="0"/>
              <a:t>exploring</a:t>
            </a:r>
            <a:r>
              <a:rPr lang="en-US" baseline="0" dirty="0" smtClean="0"/>
              <a:t> </a:t>
            </a:r>
            <a:r>
              <a:rPr lang="en-US" dirty="0" smtClean="0"/>
              <a:t>our </a:t>
            </a:r>
            <a:r>
              <a:rPr lang="en-US" dirty="0"/>
              <a:t>2028 strategic initiatives, </a:t>
            </a:r>
            <a:r>
              <a:rPr lang="en-US" dirty="0" smtClean="0"/>
              <a:t>lets first focus on the project life cycle.</a:t>
            </a:r>
            <a:r>
              <a:rPr lang="en-US" baseline="0" dirty="0" smtClean="0"/>
              <a:t> We need not start with task lists since it can lead to project failure. Therefore, planning does not delay the real work since it streamlines project execution. It will also ensure we maintain our goal of </a:t>
            </a:r>
            <a:r>
              <a:rPr lang="en-US" dirty="0" smtClean="0"/>
              <a:t>serving </a:t>
            </a:r>
            <a:r>
              <a:rPr lang="en-US" dirty="0"/>
              <a:t>patients regardless of ability to </a:t>
            </a:r>
            <a:r>
              <a:rPr lang="en-US" dirty="0" smtClean="0"/>
              <a:t>pay. The succeeding slides will illustrate</a:t>
            </a:r>
            <a:r>
              <a:rPr lang="en-US" baseline="0" dirty="0" smtClean="0"/>
              <a:t> </a:t>
            </a:r>
            <a:r>
              <a:rPr lang="en-US" dirty="0" smtClean="0"/>
              <a:t>why </a:t>
            </a:r>
            <a:r>
              <a:rPr lang="en-US" dirty="0"/>
              <a:t>planning </a:t>
            </a:r>
            <a:r>
              <a:rPr lang="en-US" dirty="0" smtClean="0"/>
              <a:t>matters</a:t>
            </a:r>
            <a:r>
              <a:rPr lang="en-US" baseline="0" dirty="0" smtClean="0"/>
              <a:t> and then introduce</a:t>
            </a:r>
            <a:r>
              <a:rPr lang="en-US" dirty="0" smtClean="0"/>
              <a:t> </a:t>
            </a:r>
            <a:r>
              <a:rPr lang="en-US" dirty="0"/>
              <a:t>the five phases every project moves through.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Planning sets out</a:t>
            </a:r>
            <a:r>
              <a:rPr lang="en-US" baseline="0" dirty="0" smtClean="0"/>
              <a:t> the project starting point and destination. Therefore, it allows team members formulate the to-do list and avoid vagueness in project execution. Planning encompasses the scope and objectives, which introduce the boundaries and prevent scope creep (Corinne et al., 2016). Moreover, there is the timeline and milestones that maps out the start, finish, and checkpoints between the project. Planning also sets out the roles and stakeholders, before focusing on required resources and budget. The project team should also consider risks and constraints likely to emerge during project implementation. For instance, the clinical staff can only offer a few hours daily to the project since they have to attend to patients, this calls for prior consideration to raise project success.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The</a:t>
            </a:r>
            <a:r>
              <a:rPr lang="en-US" baseline="0" dirty="0" smtClean="0"/>
              <a:t> project team should understand that failing to plan is planning to fail. On the one hand, planning creates a shared roadmap the whole team works from and formulates a realistic schedule with clear milestones. It also assists the management to define roles and ensure ownership is never ambiguous. On the other hand, failing to planning might lead to scope creep, which is uncontrolled expansion of the work. It also exposes projects to cost overruns from unbudgeted surprises, notwithstanding missed deadlines and cascading delays. The inference shows a missed deadline could be termed as a milestone that was never set.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The five phases</a:t>
            </a:r>
            <a:r>
              <a:rPr lang="en-US" baseline="0" dirty="0" smtClean="0"/>
              <a:t> are initiation, planning, execution, monitoring and control, and closing. However, the project team does not always apply the steps in a linear manner. The reason is planning can be evident in every phase and monitoring occurs even as the project gets executed. Moreover, the team might identify a challenge during monitoring and control that leads to initiation of a given milestone. It is also evident that the path has no defined beginning or end, the team only needs to identify the project in this continuous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	Phase</a:t>
            </a:r>
            <a:r>
              <a:rPr lang="en-US" baseline="0" dirty="0" smtClean="0"/>
              <a:t> one sets out the project purpose, which is the reason for the project and the importance of pursuing it </a:t>
            </a:r>
            <a:r>
              <a:rPr lang="en-US" sz="1200" dirty="0" smtClean="0">
                <a:solidFill>
                  <a:srgbClr val="1B2B2E"/>
                </a:solidFill>
                <a:latin typeface="Calibri" pitchFamily="34" charset="0"/>
                <a:ea typeface="Calibri" pitchFamily="34" charset="-122"/>
                <a:cs typeface="Calibri" pitchFamily="34" charset="-120"/>
              </a:rPr>
              <a:t>(ASHA, </a:t>
            </a:r>
            <a:r>
              <a:rPr lang="en-US" sz="1200" dirty="0" err="1" smtClean="0">
                <a:solidFill>
                  <a:srgbClr val="1B2B2E"/>
                </a:solidFill>
                <a:latin typeface="Calibri" pitchFamily="34" charset="0"/>
                <a:ea typeface="Calibri" pitchFamily="34" charset="-122"/>
                <a:cs typeface="Calibri" pitchFamily="34" charset="-120"/>
              </a:rPr>
              <a:t>n.d</a:t>
            </a:r>
            <a:r>
              <a:rPr lang="en-US" sz="1200" dirty="0" smtClean="0">
                <a:solidFill>
                  <a:srgbClr val="1B2B2E"/>
                </a:solidFill>
                <a:latin typeface="Calibri" pitchFamily="34" charset="0"/>
                <a:ea typeface="Calibri" pitchFamily="34" charset="-122"/>
                <a:cs typeface="Calibri" pitchFamily="34" charset="-120"/>
              </a:rPr>
              <a:t>)</a:t>
            </a:r>
            <a:r>
              <a:rPr lang="en-US" baseline="0" dirty="0" smtClean="0"/>
              <a:t>. Project initiation provides the business case, project charter, and the stakeholders. Therefore, the team identifies the expected benefits, individual’s who are involved and, or benefits from the project, and timeline (PMI, </a:t>
            </a:r>
            <a:r>
              <a:rPr lang="en-US" baseline="0" dirty="0" err="1" smtClean="0"/>
              <a:t>n.d</a:t>
            </a:r>
            <a:r>
              <a:rPr lang="en-US" baseline="0" dirty="0" smtClean="0"/>
              <a:t>). The phase also details the resources needed, which include a project sponsor, approval, and feasibility information</a:t>
            </a:r>
            <a:r>
              <a:rPr lang="en-US" dirty="0" smtClean="0"/>
              <a:t>. The</a:t>
            </a:r>
            <a:r>
              <a:rPr lang="en-US" baseline="0" dirty="0" smtClean="0"/>
              <a:t> identification and approval of all project needs ascertains need for starting the project planning process.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Planning involves breaking the scope into tasks, sets</a:t>
            </a:r>
            <a:r>
              <a:rPr lang="en-US" baseline="0" dirty="0" smtClean="0"/>
              <a:t> our schedules, and identifies different milestones. It also calls for the risk and communication plans after the project stakeholders understand their roles and responsibilities. The stakeholders should ensure they have all planning tools and access historical project data. The resources allow the team to determine success and failures of past projects, where they leverage on the successes and avoid past mistakes. Consequently, they now convert goals into an actionable plan and ensures progression into the project execution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Phase three</a:t>
            </a:r>
            <a:r>
              <a:rPr lang="en-US" baseline="0" dirty="0" smtClean="0"/>
              <a:t> involves the production of the project’s actual deliverables. Therefore, it purpose is doing the planned work and creating the results the project was chartered to deliver. The project team should complete assigned tasks, coordinate its operations and achieve the stipulated deliverables (PMI, </a:t>
            </a:r>
            <a:r>
              <a:rPr lang="en-US" baseline="0" dirty="0" err="1" smtClean="0"/>
              <a:t>n.d</a:t>
            </a:r>
            <a:r>
              <a:rPr lang="en-US" baseline="0" dirty="0" smtClean="0"/>
              <a:t>). It also keeps stakeholders informed, who include functional-area staff and external contributors. </a:t>
            </a:r>
            <a:r>
              <a:rPr lang="en-US" dirty="0" smtClean="0"/>
              <a:t>The inference shows the clinical</a:t>
            </a:r>
            <a:r>
              <a:rPr lang="en-US" dirty="0"/>
              <a:t>, dental, and counseling </a:t>
            </a:r>
            <a:r>
              <a:rPr lang="en-US" dirty="0" smtClean="0"/>
              <a:t>colleagues should be actively</a:t>
            </a:r>
            <a:r>
              <a:rPr lang="en-US" baseline="0" dirty="0" smtClean="0"/>
              <a:t> involved during the project execution phase. </a:t>
            </a:r>
            <a:r>
              <a:rPr lang="en-US" dirty="0" smtClean="0"/>
              <a:t> The</a:t>
            </a:r>
            <a:r>
              <a:rPr lang="en-US" baseline="0" dirty="0" smtClean="0"/>
              <a:t> </a:t>
            </a:r>
            <a:r>
              <a:rPr lang="en-US" dirty="0" smtClean="0"/>
              <a:t>team can undertake</a:t>
            </a:r>
            <a:r>
              <a:rPr lang="en-US" baseline="0" dirty="0" smtClean="0"/>
              <a:t> monitoring and control while or after executing the project.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The phase allows the team to measure the project</a:t>
            </a:r>
            <a:r>
              <a:rPr lang="en-US" baseline="0" dirty="0" smtClean="0"/>
              <a:t> </a:t>
            </a:r>
            <a:r>
              <a:rPr lang="en-US" dirty="0" smtClean="0"/>
              <a:t>against </a:t>
            </a:r>
            <a:r>
              <a:rPr lang="en-US" dirty="0"/>
              <a:t>scope, schedule, and </a:t>
            </a:r>
            <a:r>
              <a:rPr lang="en-US" dirty="0" smtClean="0"/>
              <a:t>budget, ensuring effective</a:t>
            </a:r>
            <a:r>
              <a:rPr lang="en-US" baseline="0" dirty="0" smtClean="0"/>
              <a:t> management of change requests. The strategy controls scope creep and addresses issues and emerging risks. It ensures that change does not go unchallenged, lest the final project becomes </a:t>
            </a:r>
            <a:r>
              <a:rPr lang="en-US" dirty="0" smtClean="0"/>
              <a:t>unrecognizable </a:t>
            </a:r>
            <a:r>
              <a:rPr lang="en-US" dirty="0"/>
              <a:t>and over budget. </a:t>
            </a:r>
            <a:r>
              <a:rPr lang="en-US" dirty="0" smtClean="0"/>
              <a:t> Therefore, the team should</a:t>
            </a:r>
            <a:r>
              <a:rPr lang="en-US" baseline="0" dirty="0" smtClean="0"/>
              <a:t> continuously communicate with the project manager to adequately challenge or accept any change requests. It also invests in tracking tools and KPIs that identify deviations and recommend their mitigation before escalation.  The primary benefit of this phase is catching deviations early and correcting small problems for improved project success.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a:t>
            </a:r>
            <a:r>
              <a:rPr lang="en-US" baseline="0" dirty="0" smtClean="0"/>
              <a:t> project team can skip the closing phase, but this leads to a non-orderly end. Thus, we need the closing phase to deliver the final product to the stakeholders and receive </a:t>
            </a:r>
            <a:r>
              <a:rPr lang="en-US" dirty="0" smtClean="0"/>
              <a:t>formal acceptance.</a:t>
            </a:r>
            <a:r>
              <a:rPr lang="en-US" baseline="0" dirty="0" smtClean="0"/>
              <a:t> The phase also </a:t>
            </a:r>
            <a:r>
              <a:rPr lang="en-US" dirty="0" smtClean="0"/>
              <a:t>releases </a:t>
            </a:r>
            <a:r>
              <a:rPr lang="en-US" dirty="0"/>
              <a:t>people and resources </a:t>
            </a:r>
            <a:r>
              <a:rPr lang="en-US" dirty="0" smtClean="0"/>
              <a:t>cleanly, assuring their availability for </a:t>
            </a:r>
            <a:r>
              <a:rPr lang="en-US" dirty="0"/>
              <a:t>the next </a:t>
            </a:r>
            <a:r>
              <a:rPr lang="en-US" dirty="0" smtClean="0"/>
              <a:t>initiative (PMI, </a:t>
            </a:r>
            <a:r>
              <a:rPr lang="en-US" dirty="0" err="1" smtClean="0"/>
              <a:t>n.d</a:t>
            </a:r>
            <a:r>
              <a:rPr lang="en-US" dirty="0" smtClean="0"/>
              <a:t>). Moreover, it</a:t>
            </a:r>
            <a:r>
              <a:rPr lang="en-US" baseline="0" dirty="0" smtClean="0"/>
              <a:t> provides a chance to reflect on le</a:t>
            </a:r>
            <a:r>
              <a:rPr lang="en-US" dirty="0" smtClean="0"/>
              <a:t>ssons learned</a:t>
            </a:r>
            <a:r>
              <a:rPr lang="en-US" baseline="0" dirty="0" smtClean="0"/>
              <a:t> from the project, distinguishing between what</a:t>
            </a:r>
            <a:r>
              <a:rPr lang="en-US" dirty="0" smtClean="0"/>
              <a:t> </a:t>
            </a:r>
            <a:r>
              <a:rPr lang="en-US" dirty="0"/>
              <a:t>worked and what </a:t>
            </a:r>
            <a:r>
              <a:rPr lang="en-US" dirty="0" smtClean="0"/>
              <a:t>didn't. the team only needs to</a:t>
            </a:r>
            <a:r>
              <a:rPr lang="en-US" baseline="0" dirty="0" smtClean="0"/>
              <a:t> focus on the close out contracts and records. </a:t>
            </a:r>
            <a:r>
              <a:rPr lang="en-US" dirty="0" smtClean="0"/>
              <a:t>The</a:t>
            </a:r>
            <a:r>
              <a:rPr lang="en-US" baseline="0" dirty="0" smtClean="0"/>
              <a:t> findings will form the basis for the health center’s next year’s planning or subsequent project life cycle.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solidFill>
                  <a:prstClr val="black"/>
                </a:solidFill>
              </a:rPr>
              <a:pPr/>
              <a:t>10</a:t>
            </a:fld>
            <a:endParaRPr lang="en-US">
              <a:solidFill>
                <a:prstClr val="black"/>
              </a:solidFill>
            </a:endParaRPr>
          </a:p>
        </p:txBody>
      </p:sp>
    </p:spTree>
    <p:extLst>
      <p:ext uri="{BB962C8B-B14F-4D97-AF65-F5344CB8AC3E}">
        <p14:creationId xmlns:p14="http://schemas.microsoft.com/office/powerpoint/2010/main" val="33738006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0.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4.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0.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0.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0.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92D050"/>
        </a:solidFill>
        <a:effectLst/>
      </p:bgPr>
    </p:bg>
    <p:spTree>
      <p:nvGrpSpPr>
        <p:cNvPr id="1" name=""/>
        <p:cNvGrpSpPr/>
        <p:nvPr/>
      </p:nvGrpSpPr>
      <p:grpSpPr>
        <a:xfrm>
          <a:off x="0" y="0"/>
          <a:ext cx="0" cy="0"/>
          <a:chOff x="0" y="0"/>
          <a:chExt cx="0" cy="0"/>
        </a:xfrm>
      </p:grpSpPr>
      <p:sp>
        <p:nvSpPr>
          <p:cNvPr id="4" name="Shape 2"/>
          <p:cNvSpPr/>
          <p:nvPr/>
        </p:nvSpPr>
        <p:spPr>
          <a:xfrm>
            <a:off x="9372600" y="2286000"/>
            <a:ext cx="2286000" cy="2286000"/>
          </a:xfrm>
          <a:prstGeom prst="ellipse">
            <a:avLst/>
          </a:prstGeom>
          <a:solidFill>
            <a:srgbClr val="02C39A"/>
          </a:solidFill>
          <a:ln/>
        </p:spPr>
      </p:sp>
      <p:pic>
        <p:nvPicPr>
          <p:cNvPr id="5" name="Image 0" descr="preencoded.png"/>
          <p:cNvPicPr>
            <a:picLocks noChangeAspect="1"/>
          </p:cNvPicPr>
          <p:nvPr/>
        </p:nvPicPr>
        <p:blipFill>
          <a:blip r:embed="rId3"/>
          <a:stretch>
            <a:fillRect/>
          </a:stretch>
        </p:blipFill>
        <p:spPr>
          <a:xfrm>
            <a:off x="9944100" y="2857500"/>
            <a:ext cx="1143000" cy="1143000"/>
          </a:xfrm>
          <a:prstGeom prst="rect">
            <a:avLst/>
          </a:prstGeom>
        </p:spPr>
      </p:pic>
      <p:sp>
        <p:nvSpPr>
          <p:cNvPr id="6" name="Text 3"/>
          <p:cNvSpPr/>
          <p:nvPr/>
        </p:nvSpPr>
        <p:spPr>
          <a:xfrm>
            <a:off x="822960" y="1371600"/>
            <a:ext cx="7315200" cy="365760"/>
          </a:xfrm>
          <a:prstGeom prst="rect">
            <a:avLst/>
          </a:prstGeom>
          <a:noFill/>
          <a:ln/>
        </p:spPr>
        <p:txBody>
          <a:bodyPr wrap="square" rtlCol="0" anchor="ctr"/>
          <a:lstStyle/>
          <a:p>
            <a:pPr marL="0" indent="0">
              <a:buNone/>
            </a:pPr>
            <a:r>
              <a:rPr lang="en-US" sz="1400" b="1" kern="0" spc="300" dirty="0">
                <a:solidFill>
                  <a:srgbClr val="7030A0"/>
                </a:solidFill>
                <a:latin typeface="Calibri" pitchFamily="34" charset="0"/>
                <a:ea typeface="Calibri" pitchFamily="34" charset="-122"/>
                <a:cs typeface="Calibri" pitchFamily="34" charset="-120"/>
              </a:rPr>
              <a:t>2028 STRATEGIC INITIATIVES</a:t>
            </a:r>
            <a:endParaRPr lang="en-US" sz="1400" dirty="0">
              <a:solidFill>
                <a:srgbClr val="7030A0"/>
              </a:solidFill>
            </a:endParaRPr>
          </a:p>
        </p:txBody>
      </p:sp>
      <p:sp>
        <p:nvSpPr>
          <p:cNvPr id="7" name="Text 4"/>
          <p:cNvSpPr/>
          <p:nvPr/>
        </p:nvSpPr>
        <p:spPr>
          <a:xfrm>
            <a:off x="777240" y="1828800"/>
            <a:ext cx="7498080" cy="1737360"/>
          </a:xfrm>
          <a:prstGeom prst="rect">
            <a:avLst/>
          </a:prstGeom>
          <a:noFill/>
          <a:ln/>
        </p:spPr>
        <p:txBody>
          <a:bodyPr wrap="square" rtlCol="0" anchor="ctr"/>
          <a:lstStyle/>
          <a:p>
            <a:pPr marL="0" indent="0" algn="ctr">
              <a:lnSpc>
                <a:spcPts val="4800"/>
              </a:lnSpc>
              <a:buNone/>
            </a:pPr>
            <a:r>
              <a:rPr lang="en-US" sz="4600" b="1" dirty="0">
                <a:solidFill>
                  <a:srgbClr val="FFFFFF"/>
                </a:solidFill>
                <a:latin typeface="Cambria" pitchFamily="34" charset="0"/>
                <a:ea typeface="Cambria" pitchFamily="34" charset="-122"/>
                <a:cs typeface="Cambria" pitchFamily="34" charset="-120"/>
              </a:rPr>
              <a:t>The Project Management</a:t>
            </a:r>
            <a:endParaRPr lang="en-US" sz="4600" dirty="0"/>
          </a:p>
          <a:p>
            <a:pPr marL="0" indent="0" algn="ctr">
              <a:lnSpc>
                <a:spcPts val="4800"/>
              </a:lnSpc>
              <a:buNone/>
            </a:pPr>
            <a:r>
              <a:rPr lang="en-US" sz="4600" b="1" dirty="0">
                <a:solidFill>
                  <a:srgbClr val="FFFFFF"/>
                </a:solidFill>
                <a:latin typeface="Cambria" pitchFamily="34" charset="0"/>
                <a:ea typeface="Cambria" pitchFamily="34" charset="-122"/>
                <a:cs typeface="Cambria" pitchFamily="34" charset="-120"/>
              </a:rPr>
              <a:t>Life Cycle</a:t>
            </a:r>
            <a:endParaRPr lang="en-US" sz="4600" dirty="0"/>
          </a:p>
        </p:txBody>
      </p:sp>
      <p:sp>
        <p:nvSpPr>
          <p:cNvPr id="8" name="Text 5"/>
          <p:cNvSpPr/>
          <p:nvPr/>
        </p:nvSpPr>
        <p:spPr>
          <a:xfrm>
            <a:off x="822960" y="3657600"/>
            <a:ext cx="7315200" cy="548640"/>
          </a:xfrm>
          <a:prstGeom prst="rect">
            <a:avLst/>
          </a:prstGeom>
          <a:noFill/>
          <a:ln/>
        </p:spPr>
        <p:txBody>
          <a:bodyPr wrap="square" rtlCol="0" anchor="ctr"/>
          <a:lstStyle/>
          <a:p>
            <a:pPr marL="0" indent="0">
              <a:buNone/>
            </a:pPr>
            <a:r>
              <a:rPr lang="en-US" sz="1800" i="1" dirty="0">
                <a:solidFill>
                  <a:srgbClr val="CFE6E4"/>
                </a:solidFill>
                <a:latin typeface="Calibri" pitchFamily="34" charset="0"/>
                <a:ea typeface="Calibri" pitchFamily="34" charset="-122"/>
                <a:cs typeface="Calibri" pitchFamily="34" charset="-120"/>
              </a:rPr>
              <a:t>Why planning is the foundation of every successful project</a:t>
            </a:r>
            <a:endParaRPr lang="en-US" sz="1800" dirty="0"/>
          </a:p>
        </p:txBody>
      </p:sp>
      <p:sp>
        <p:nvSpPr>
          <p:cNvPr id="9" name="Shape 6"/>
          <p:cNvSpPr/>
          <p:nvPr/>
        </p:nvSpPr>
        <p:spPr>
          <a:xfrm>
            <a:off x="868680" y="5120640"/>
            <a:ext cx="2743200" cy="0"/>
          </a:xfrm>
          <a:prstGeom prst="line">
            <a:avLst/>
          </a:prstGeom>
          <a:noFill/>
          <a:ln w="25400">
            <a:solidFill>
              <a:srgbClr val="00A896"/>
            </a:solidFill>
            <a:prstDash val="solid"/>
          </a:ln>
        </p:spPr>
      </p:sp>
      <p:sp>
        <p:nvSpPr>
          <p:cNvPr id="10" name="Text 7"/>
          <p:cNvSpPr/>
          <p:nvPr/>
        </p:nvSpPr>
        <p:spPr>
          <a:xfrm>
            <a:off x="822960" y="5257800"/>
            <a:ext cx="7315200" cy="523568"/>
          </a:xfrm>
          <a:prstGeom prst="rect">
            <a:avLst/>
          </a:prstGeom>
          <a:noFill/>
          <a:ln/>
        </p:spPr>
        <p:txBody>
          <a:bodyPr wrap="square" rtlCol="0" anchor="ctr"/>
          <a:lstStyle/>
          <a:p>
            <a:pPr marL="0" indent="0">
              <a:buNone/>
            </a:pPr>
            <a:r>
              <a:rPr lang="en-US" sz="1500" b="1" dirty="0" smtClean="0">
                <a:solidFill>
                  <a:srgbClr val="FFFFFF"/>
                </a:solidFill>
                <a:latin typeface="Calibri" pitchFamily="34" charset="0"/>
                <a:ea typeface="Calibri" pitchFamily="34" charset="-122"/>
                <a:cs typeface="Calibri" pitchFamily="34" charset="-120"/>
              </a:rPr>
              <a:t>Name</a:t>
            </a:r>
            <a:endParaRPr lang="en-US" sz="1500" b="1" dirty="0" smtClean="0">
              <a:solidFill>
                <a:srgbClr val="FFFFFF"/>
              </a:solidFill>
              <a:latin typeface="Calibri" pitchFamily="34" charset="0"/>
              <a:ea typeface="Calibri" pitchFamily="34" charset="-122"/>
              <a:cs typeface="Calibri" pitchFamily="34" charset="-120"/>
            </a:endParaRPr>
          </a:p>
          <a:p>
            <a:pPr marL="0" indent="0">
              <a:buNone/>
            </a:pPr>
            <a:r>
              <a:rPr lang="en-US" sz="1500" b="1" dirty="0" smtClean="0">
                <a:solidFill>
                  <a:srgbClr val="FFFFFF"/>
                </a:solidFill>
                <a:latin typeface="Calibri" pitchFamily="34" charset="0"/>
                <a:ea typeface="Calibri" pitchFamily="34" charset="-122"/>
                <a:cs typeface="Calibri" pitchFamily="34" charset="-120"/>
              </a:rPr>
              <a:t>Equity </a:t>
            </a:r>
            <a:r>
              <a:rPr lang="en-US" sz="1500" b="1" dirty="0">
                <a:solidFill>
                  <a:srgbClr val="FFFFFF"/>
                </a:solidFill>
                <a:latin typeface="Calibri" pitchFamily="34" charset="0"/>
                <a:ea typeface="Calibri" pitchFamily="34" charset="-122"/>
                <a:cs typeface="Calibri" pitchFamily="34" charset="-120"/>
              </a:rPr>
              <a:t>Community Health Center</a:t>
            </a:r>
            <a:endParaRPr lang="en-US" sz="1500" dirty="0"/>
          </a:p>
        </p:txBody>
      </p:sp>
      <p:sp>
        <p:nvSpPr>
          <p:cNvPr id="11" name="Text 8"/>
          <p:cNvSpPr/>
          <p:nvPr/>
        </p:nvSpPr>
        <p:spPr>
          <a:xfrm>
            <a:off x="868680" y="5852161"/>
            <a:ext cx="7328474" cy="365760"/>
          </a:xfrm>
          <a:prstGeom prst="rect">
            <a:avLst/>
          </a:prstGeom>
          <a:noFill/>
          <a:ln/>
        </p:spPr>
        <p:txBody>
          <a:bodyPr wrap="square" rtlCol="0" anchor="ctr"/>
          <a:lstStyle/>
          <a:p>
            <a:pPr marL="0" indent="0">
              <a:buNone/>
            </a:pPr>
            <a:r>
              <a:rPr lang="en-US" sz="1300" dirty="0">
                <a:solidFill>
                  <a:srgbClr val="7030A0"/>
                </a:solidFill>
                <a:latin typeface="Calibri" pitchFamily="34" charset="0"/>
                <a:ea typeface="Calibri" pitchFamily="34" charset="-122"/>
                <a:cs typeface="Calibri" pitchFamily="34" charset="-120"/>
              </a:rPr>
              <a:t>Outreach Coordination  ·  Los Angeles, CA</a:t>
            </a:r>
            <a:endParaRPr lang="en-US" sz="1300" dirty="0">
              <a:solidFill>
                <a:srgbClr val="7030A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8229600" cy="640080"/>
          </a:xfrm>
          <a:prstGeom prst="rect">
            <a:avLst/>
          </a:prstGeom>
          <a:noFill/>
          <a:ln/>
        </p:spPr>
        <p:txBody>
          <a:bodyPr wrap="square" rtlCol="0" anchor="ctr"/>
          <a:lstStyle/>
          <a:p>
            <a:pPr marL="0" indent="0">
              <a:buNone/>
            </a:pPr>
            <a:r>
              <a:rPr lang="en-US" sz="3400" b="1" dirty="0">
                <a:solidFill>
                  <a:srgbClr val="0A2E36"/>
                </a:solidFill>
                <a:latin typeface="Cambria" pitchFamily="34" charset="0"/>
                <a:ea typeface="Cambria" pitchFamily="34" charset="-122"/>
                <a:cs typeface="Cambria" pitchFamily="34" charset="-120"/>
              </a:rPr>
              <a:t>What Project Planning Is</a:t>
            </a:r>
            <a:endParaRPr lang="en-US" sz="3400" dirty="0"/>
          </a:p>
        </p:txBody>
      </p:sp>
      <p:sp>
        <p:nvSpPr>
          <p:cNvPr id="4" name="Shape 2"/>
          <p:cNvSpPr/>
          <p:nvPr/>
        </p:nvSpPr>
        <p:spPr>
          <a:xfrm>
            <a:off x="640080" y="1691640"/>
            <a:ext cx="4937760" cy="4297680"/>
          </a:xfrm>
          <a:prstGeom prst="roundRect">
            <a:avLst>
              <a:gd name="adj" fmla="val 2553"/>
            </a:avLst>
          </a:prstGeom>
          <a:solidFill>
            <a:srgbClr val="EAF4F3"/>
          </a:solidFill>
          <a:ln/>
        </p:spPr>
      </p:sp>
      <p:sp>
        <p:nvSpPr>
          <p:cNvPr id="5" name="Text 3"/>
          <p:cNvSpPr/>
          <p:nvPr/>
        </p:nvSpPr>
        <p:spPr>
          <a:xfrm>
            <a:off x="914400" y="2011680"/>
            <a:ext cx="4389120" cy="1463040"/>
          </a:xfrm>
          <a:prstGeom prst="rect">
            <a:avLst/>
          </a:prstGeom>
          <a:noFill/>
          <a:ln/>
        </p:spPr>
        <p:txBody>
          <a:bodyPr wrap="square" rtlCol="0" anchor="ctr"/>
          <a:lstStyle/>
          <a:p>
            <a:pPr>
              <a:lnSpc>
                <a:spcPts val="2400"/>
              </a:lnSpc>
            </a:pPr>
            <a:r>
              <a:rPr lang="en-US" sz="1600" dirty="0">
                <a:solidFill>
                  <a:srgbClr val="1B2B2E"/>
                </a:solidFill>
                <a:latin typeface="Calibri" pitchFamily="34" charset="0"/>
                <a:ea typeface="Calibri" pitchFamily="34" charset="-122"/>
                <a:cs typeface="Calibri" pitchFamily="34" charset="-120"/>
              </a:rPr>
              <a:t>Project </a:t>
            </a:r>
            <a:r>
              <a:rPr lang="en-US" sz="1600" dirty="0" smtClean="0">
                <a:solidFill>
                  <a:srgbClr val="1B2B2E"/>
                </a:solidFill>
                <a:latin typeface="Calibri" pitchFamily="34" charset="0"/>
                <a:ea typeface="Calibri" pitchFamily="34" charset="-122"/>
                <a:cs typeface="Calibri" pitchFamily="34" charset="-120"/>
              </a:rPr>
              <a:t>planning is the process that project team applies to map out objectives and translate a </a:t>
            </a:r>
            <a:r>
              <a:rPr lang="en-US" sz="1600" dirty="0">
                <a:solidFill>
                  <a:srgbClr val="1B2B2E"/>
                </a:solidFill>
                <a:latin typeface="Calibri" pitchFamily="34" charset="0"/>
                <a:ea typeface="Calibri" pitchFamily="34" charset="-122"/>
                <a:cs typeface="Calibri" pitchFamily="34" charset="-120"/>
              </a:rPr>
              <a:t>goal into a concrete set of </a:t>
            </a:r>
            <a:r>
              <a:rPr lang="en-US" sz="1600" dirty="0" smtClean="0">
                <a:solidFill>
                  <a:srgbClr val="1B2B2E"/>
                </a:solidFill>
                <a:latin typeface="Calibri" pitchFamily="34" charset="0"/>
                <a:ea typeface="Calibri" pitchFamily="34" charset="-122"/>
                <a:cs typeface="Calibri" pitchFamily="34" charset="-120"/>
              </a:rPr>
              <a:t>tasks </a:t>
            </a:r>
            <a:r>
              <a:rPr lang="en-US" sz="1600" dirty="0">
                <a:solidFill>
                  <a:srgbClr val="1B2B2E"/>
                </a:solidFill>
                <a:latin typeface="Calibri" pitchFamily="34" charset="0"/>
                <a:ea typeface="Calibri" pitchFamily="34" charset="-122"/>
                <a:cs typeface="Calibri" pitchFamily="34" charset="-120"/>
              </a:rPr>
              <a:t>and timelines (</a:t>
            </a:r>
            <a:r>
              <a:rPr lang="en-US" sz="1600" dirty="0" smtClean="0">
                <a:solidFill>
                  <a:srgbClr val="1B2B2E"/>
                </a:solidFill>
                <a:latin typeface="Calibri" pitchFamily="34" charset="0"/>
                <a:ea typeface="Calibri" pitchFamily="34" charset="-122"/>
                <a:cs typeface="Calibri" pitchFamily="34" charset="-120"/>
              </a:rPr>
              <a:t>Corinne et al., 2016).</a:t>
            </a:r>
            <a:endParaRPr lang="en-US" sz="1600" dirty="0"/>
          </a:p>
        </p:txBody>
      </p:sp>
      <p:sp>
        <p:nvSpPr>
          <p:cNvPr id="6" name="Text 4"/>
          <p:cNvSpPr/>
          <p:nvPr/>
        </p:nvSpPr>
        <p:spPr>
          <a:xfrm>
            <a:off x="914400" y="3611880"/>
            <a:ext cx="4389120" cy="365760"/>
          </a:xfrm>
          <a:prstGeom prst="rect">
            <a:avLst/>
          </a:prstGeom>
          <a:noFill/>
          <a:ln/>
        </p:spPr>
        <p:txBody>
          <a:bodyPr wrap="square" rtlCol="0" anchor="ctr"/>
          <a:lstStyle/>
          <a:p>
            <a:pPr marL="0" indent="0">
              <a:buNone/>
            </a:pPr>
            <a:r>
              <a:rPr lang="en-US" sz="1400" dirty="0" smtClean="0">
                <a:solidFill>
                  <a:srgbClr val="5B6E71"/>
                </a:solidFill>
                <a:latin typeface="Calibri" pitchFamily="34" charset="0"/>
                <a:ea typeface="Calibri" pitchFamily="34" charset="-122"/>
                <a:cs typeface="Calibri" pitchFamily="34" charset="-120"/>
              </a:rPr>
              <a:t>Planning responds to the question</a:t>
            </a:r>
            <a:r>
              <a:rPr lang="en-US" sz="1400" dirty="0">
                <a:solidFill>
                  <a:srgbClr val="5B6E71"/>
                </a:solidFill>
                <a:latin typeface="Calibri" pitchFamily="34" charset="0"/>
                <a:ea typeface="Calibri" pitchFamily="34" charset="-122"/>
                <a:cs typeface="Calibri" pitchFamily="34" charset="-120"/>
              </a:rPr>
              <a:t>:</a:t>
            </a:r>
            <a:endParaRPr lang="en-US" sz="1400" dirty="0"/>
          </a:p>
        </p:txBody>
      </p:sp>
      <p:sp>
        <p:nvSpPr>
          <p:cNvPr id="7" name="Text 5"/>
          <p:cNvSpPr/>
          <p:nvPr/>
        </p:nvSpPr>
        <p:spPr>
          <a:xfrm>
            <a:off x="914400" y="3977640"/>
            <a:ext cx="4389120" cy="1280160"/>
          </a:xfrm>
          <a:prstGeom prst="rect">
            <a:avLst/>
          </a:prstGeom>
          <a:noFill/>
          <a:ln/>
        </p:spPr>
        <p:txBody>
          <a:bodyPr wrap="square" rtlCol="0" anchor="ctr"/>
          <a:lstStyle/>
          <a:p>
            <a:pPr marL="0" indent="0">
              <a:lnSpc>
                <a:spcPts val="2500"/>
              </a:lnSpc>
              <a:buNone/>
            </a:pPr>
            <a:r>
              <a:rPr lang="en-US" sz="1900" b="1" i="1" dirty="0">
                <a:solidFill>
                  <a:srgbClr val="028090"/>
                </a:solidFill>
                <a:latin typeface="Cambria" pitchFamily="34" charset="0"/>
                <a:ea typeface="Cambria" pitchFamily="34" charset="-122"/>
                <a:cs typeface="Cambria" pitchFamily="34" charset="-120"/>
              </a:rPr>
              <a:t>“How, exactly, will we get from where we are to the result we need?”</a:t>
            </a:r>
            <a:endParaRPr lang="en-US" sz="1900" dirty="0"/>
          </a:p>
        </p:txBody>
      </p:sp>
      <p:sp>
        <p:nvSpPr>
          <p:cNvPr id="8" name="Text 6"/>
          <p:cNvSpPr/>
          <p:nvPr/>
        </p:nvSpPr>
        <p:spPr>
          <a:xfrm>
            <a:off x="5943600" y="1737360"/>
            <a:ext cx="5669280" cy="365760"/>
          </a:xfrm>
          <a:prstGeom prst="rect">
            <a:avLst/>
          </a:prstGeom>
          <a:noFill/>
          <a:ln/>
        </p:spPr>
        <p:txBody>
          <a:bodyPr wrap="square" rtlCol="0" anchor="ctr"/>
          <a:lstStyle/>
          <a:p>
            <a:pPr marL="0" indent="0">
              <a:buNone/>
            </a:pPr>
            <a:r>
              <a:rPr lang="en-US" sz="1500" b="1" kern="0" spc="100" dirty="0">
                <a:solidFill>
                  <a:srgbClr val="0A2E36"/>
                </a:solidFill>
                <a:latin typeface="Calibri" pitchFamily="34" charset="0"/>
                <a:ea typeface="Calibri" pitchFamily="34" charset="-122"/>
                <a:cs typeface="Calibri" pitchFamily="34" charset="-120"/>
              </a:rPr>
              <a:t>What we weigh during planning</a:t>
            </a:r>
            <a:endParaRPr lang="en-US" sz="1500" dirty="0"/>
          </a:p>
        </p:txBody>
      </p:sp>
      <p:sp>
        <p:nvSpPr>
          <p:cNvPr id="9" name="Shape 7"/>
          <p:cNvSpPr/>
          <p:nvPr/>
        </p:nvSpPr>
        <p:spPr>
          <a:xfrm>
            <a:off x="5989320" y="2240280"/>
            <a:ext cx="566928" cy="566928"/>
          </a:xfrm>
          <a:prstGeom prst="ellipse">
            <a:avLst/>
          </a:prstGeom>
          <a:solidFill>
            <a:srgbClr val="EAF4F3"/>
          </a:solidFill>
          <a:ln/>
        </p:spPr>
      </p:sp>
      <p:pic>
        <p:nvPicPr>
          <p:cNvPr id="10" name="Image 0" descr="preencoded.png"/>
          <p:cNvPicPr>
            <a:picLocks noChangeAspect="1"/>
          </p:cNvPicPr>
          <p:nvPr/>
        </p:nvPicPr>
        <p:blipFill>
          <a:blip r:embed="rId3"/>
          <a:stretch>
            <a:fillRect/>
          </a:stretch>
        </p:blipFill>
        <p:spPr>
          <a:xfrm>
            <a:off x="6126480" y="2377440"/>
            <a:ext cx="292608" cy="292608"/>
          </a:xfrm>
          <a:prstGeom prst="rect">
            <a:avLst/>
          </a:prstGeom>
        </p:spPr>
      </p:pic>
      <p:sp>
        <p:nvSpPr>
          <p:cNvPr id="11" name="Text 8"/>
          <p:cNvSpPr/>
          <p:nvPr/>
        </p:nvSpPr>
        <p:spPr>
          <a:xfrm>
            <a:off x="6720840" y="2203704"/>
            <a:ext cx="4846320" cy="365760"/>
          </a:xfrm>
          <a:prstGeom prst="rect">
            <a:avLst/>
          </a:prstGeom>
          <a:noFill/>
          <a:ln/>
        </p:spPr>
        <p:txBody>
          <a:bodyPr wrap="square" lIns="0" tIns="0" rIns="0" bIns="0" rtlCol="0" anchor="ctr"/>
          <a:lstStyle/>
          <a:p>
            <a:pPr marL="0" indent="0">
              <a:buNone/>
            </a:pPr>
            <a:r>
              <a:rPr lang="en-US" sz="1500" b="1" dirty="0">
                <a:solidFill>
                  <a:srgbClr val="1B2B2E"/>
                </a:solidFill>
                <a:latin typeface="Calibri" pitchFamily="34" charset="0"/>
                <a:ea typeface="Calibri" pitchFamily="34" charset="-122"/>
                <a:cs typeface="Calibri" pitchFamily="34" charset="-120"/>
              </a:rPr>
              <a:t>Scope &amp; objectives</a:t>
            </a:r>
            <a:endParaRPr lang="en-US" sz="1500" dirty="0"/>
          </a:p>
        </p:txBody>
      </p:sp>
      <p:sp>
        <p:nvSpPr>
          <p:cNvPr id="12" name="Text 9"/>
          <p:cNvSpPr/>
          <p:nvPr/>
        </p:nvSpPr>
        <p:spPr>
          <a:xfrm>
            <a:off x="6720840" y="2542032"/>
            <a:ext cx="4846320" cy="365760"/>
          </a:xfrm>
          <a:prstGeom prst="rect">
            <a:avLst/>
          </a:prstGeom>
          <a:noFill/>
          <a:ln/>
        </p:spPr>
        <p:txBody>
          <a:bodyPr wrap="square" lIns="0" tIns="0" rIns="0" bIns="0" rtlCol="0" anchor="ctr"/>
          <a:lstStyle/>
          <a:p>
            <a:pPr marL="0" indent="0">
              <a:buNone/>
            </a:pPr>
            <a:r>
              <a:rPr lang="en-US" sz="1250" dirty="0">
                <a:solidFill>
                  <a:srgbClr val="5B6E71"/>
                </a:solidFill>
                <a:latin typeface="Calibri" pitchFamily="34" charset="0"/>
                <a:ea typeface="Calibri" pitchFamily="34" charset="-122"/>
                <a:cs typeface="Calibri" pitchFamily="34" charset="-120"/>
              </a:rPr>
              <a:t>What the project will — and won't — deliver</a:t>
            </a:r>
            <a:endParaRPr lang="en-US" sz="1250" dirty="0"/>
          </a:p>
        </p:txBody>
      </p:sp>
      <p:sp>
        <p:nvSpPr>
          <p:cNvPr id="13" name="Shape 10"/>
          <p:cNvSpPr/>
          <p:nvPr/>
        </p:nvSpPr>
        <p:spPr>
          <a:xfrm>
            <a:off x="5989320" y="2999232"/>
            <a:ext cx="566928" cy="566928"/>
          </a:xfrm>
          <a:prstGeom prst="ellipse">
            <a:avLst/>
          </a:prstGeom>
          <a:solidFill>
            <a:srgbClr val="EAF4F3"/>
          </a:solidFill>
          <a:ln/>
        </p:spPr>
      </p:sp>
      <p:pic>
        <p:nvPicPr>
          <p:cNvPr id="14" name="Image 1" descr="preencoded.png"/>
          <p:cNvPicPr>
            <a:picLocks noChangeAspect="1"/>
          </p:cNvPicPr>
          <p:nvPr/>
        </p:nvPicPr>
        <p:blipFill>
          <a:blip r:embed="rId4"/>
          <a:stretch>
            <a:fillRect/>
          </a:stretch>
        </p:blipFill>
        <p:spPr>
          <a:xfrm>
            <a:off x="6126480" y="3136392"/>
            <a:ext cx="292608" cy="292608"/>
          </a:xfrm>
          <a:prstGeom prst="rect">
            <a:avLst/>
          </a:prstGeom>
        </p:spPr>
      </p:pic>
      <p:sp>
        <p:nvSpPr>
          <p:cNvPr id="15" name="Text 11"/>
          <p:cNvSpPr/>
          <p:nvPr/>
        </p:nvSpPr>
        <p:spPr>
          <a:xfrm>
            <a:off x="6720840" y="2962656"/>
            <a:ext cx="4846320" cy="365760"/>
          </a:xfrm>
          <a:prstGeom prst="rect">
            <a:avLst/>
          </a:prstGeom>
          <a:noFill/>
          <a:ln/>
        </p:spPr>
        <p:txBody>
          <a:bodyPr wrap="square" lIns="0" tIns="0" rIns="0" bIns="0" rtlCol="0" anchor="ctr"/>
          <a:lstStyle/>
          <a:p>
            <a:pPr marL="0" indent="0">
              <a:buNone/>
            </a:pPr>
            <a:r>
              <a:rPr lang="en-US" sz="1500" b="1" dirty="0">
                <a:solidFill>
                  <a:srgbClr val="1B2B2E"/>
                </a:solidFill>
                <a:latin typeface="Calibri" pitchFamily="34" charset="0"/>
                <a:ea typeface="Calibri" pitchFamily="34" charset="-122"/>
                <a:cs typeface="Calibri" pitchFamily="34" charset="-120"/>
              </a:rPr>
              <a:t>Timeline &amp; milestones</a:t>
            </a:r>
            <a:endParaRPr lang="en-US" sz="1500" dirty="0"/>
          </a:p>
        </p:txBody>
      </p:sp>
      <p:sp>
        <p:nvSpPr>
          <p:cNvPr id="16" name="Text 12"/>
          <p:cNvSpPr/>
          <p:nvPr/>
        </p:nvSpPr>
        <p:spPr>
          <a:xfrm>
            <a:off x="6720840" y="3300984"/>
            <a:ext cx="4846320" cy="365760"/>
          </a:xfrm>
          <a:prstGeom prst="rect">
            <a:avLst/>
          </a:prstGeom>
          <a:noFill/>
          <a:ln/>
        </p:spPr>
        <p:txBody>
          <a:bodyPr wrap="square" lIns="0" tIns="0" rIns="0" bIns="0" rtlCol="0" anchor="ctr"/>
          <a:lstStyle/>
          <a:p>
            <a:pPr marL="0" indent="0">
              <a:buNone/>
            </a:pPr>
            <a:r>
              <a:rPr lang="en-US" sz="1250" dirty="0">
                <a:solidFill>
                  <a:srgbClr val="5B6E71"/>
                </a:solidFill>
                <a:latin typeface="Calibri" pitchFamily="34" charset="0"/>
                <a:ea typeface="Calibri" pitchFamily="34" charset="-122"/>
                <a:cs typeface="Calibri" pitchFamily="34" charset="-120"/>
              </a:rPr>
              <a:t>Start, finish, and the checkpoints between</a:t>
            </a:r>
            <a:endParaRPr lang="en-US" sz="1250" dirty="0"/>
          </a:p>
        </p:txBody>
      </p:sp>
      <p:sp>
        <p:nvSpPr>
          <p:cNvPr id="17" name="Shape 13"/>
          <p:cNvSpPr/>
          <p:nvPr/>
        </p:nvSpPr>
        <p:spPr>
          <a:xfrm>
            <a:off x="5989320" y="3758184"/>
            <a:ext cx="566928" cy="566928"/>
          </a:xfrm>
          <a:prstGeom prst="ellipse">
            <a:avLst/>
          </a:prstGeom>
          <a:solidFill>
            <a:srgbClr val="EAF4F3"/>
          </a:solidFill>
          <a:ln/>
        </p:spPr>
      </p:sp>
      <p:pic>
        <p:nvPicPr>
          <p:cNvPr id="18" name="Image 2" descr="preencoded.png"/>
          <p:cNvPicPr>
            <a:picLocks noChangeAspect="1"/>
          </p:cNvPicPr>
          <p:nvPr/>
        </p:nvPicPr>
        <p:blipFill>
          <a:blip r:embed="rId5"/>
          <a:stretch>
            <a:fillRect/>
          </a:stretch>
        </p:blipFill>
        <p:spPr>
          <a:xfrm>
            <a:off x="6126480" y="3895344"/>
            <a:ext cx="292608" cy="292608"/>
          </a:xfrm>
          <a:prstGeom prst="rect">
            <a:avLst/>
          </a:prstGeom>
        </p:spPr>
      </p:pic>
      <p:sp>
        <p:nvSpPr>
          <p:cNvPr id="19" name="Text 14"/>
          <p:cNvSpPr/>
          <p:nvPr/>
        </p:nvSpPr>
        <p:spPr>
          <a:xfrm>
            <a:off x="6720840" y="3721608"/>
            <a:ext cx="4846320" cy="365760"/>
          </a:xfrm>
          <a:prstGeom prst="rect">
            <a:avLst/>
          </a:prstGeom>
          <a:noFill/>
          <a:ln/>
        </p:spPr>
        <p:txBody>
          <a:bodyPr wrap="square" lIns="0" tIns="0" rIns="0" bIns="0" rtlCol="0" anchor="ctr"/>
          <a:lstStyle/>
          <a:p>
            <a:pPr marL="0" indent="0">
              <a:buNone/>
            </a:pPr>
            <a:r>
              <a:rPr lang="en-US" sz="1500" b="1" dirty="0">
                <a:solidFill>
                  <a:srgbClr val="1B2B2E"/>
                </a:solidFill>
                <a:latin typeface="Calibri" pitchFamily="34" charset="0"/>
                <a:ea typeface="Calibri" pitchFamily="34" charset="-122"/>
                <a:cs typeface="Calibri" pitchFamily="34" charset="-120"/>
              </a:rPr>
              <a:t>Roles &amp; stakeholders</a:t>
            </a:r>
            <a:endParaRPr lang="en-US" sz="1500" dirty="0"/>
          </a:p>
        </p:txBody>
      </p:sp>
      <p:sp>
        <p:nvSpPr>
          <p:cNvPr id="20" name="Text 15"/>
          <p:cNvSpPr/>
          <p:nvPr/>
        </p:nvSpPr>
        <p:spPr>
          <a:xfrm>
            <a:off x="6720840" y="4059936"/>
            <a:ext cx="4846320" cy="365760"/>
          </a:xfrm>
          <a:prstGeom prst="rect">
            <a:avLst/>
          </a:prstGeom>
          <a:noFill/>
          <a:ln/>
        </p:spPr>
        <p:txBody>
          <a:bodyPr wrap="square" lIns="0" tIns="0" rIns="0" bIns="0" rtlCol="0" anchor="ctr"/>
          <a:lstStyle/>
          <a:p>
            <a:pPr marL="0" indent="0">
              <a:buNone/>
            </a:pPr>
            <a:r>
              <a:rPr lang="en-US" sz="1250" dirty="0">
                <a:solidFill>
                  <a:srgbClr val="5B6E71"/>
                </a:solidFill>
                <a:latin typeface="Calibri" pitchFamily="34" charset="0"/>
                <a:ea typeface="Calibri" pitchFamily="34" charset="-122"/>
                <a:cs typeface="Calibri" pitchFamily="34" charset="-120"/>
              </a:rPr>
              <a:t>Who does the work and who is affected</a:t>
            </a:r>
            <a:endParaRPr lang="en-US" sz="1250" dirty="0"/>
          </a:p>
        </p:txBody>
      </p:sp>
      <p:sp>
        <p:nvSpPr>
          <p:cNvPr id="21" name="Shape 16"/>
          <p:cNvSpPr/>
          <p:nvPr/>
        </p:nvSpPr>
        <p:spPr>
          <a:xfrm>
            <a:off x="5989320" y="4517136"/>
            <a:ext cx="566928" cy="566928"/>
          </a:xfrm>
          <a:prstGeom prst="ellipse">
            <a:avLst/>
          </a:prstGeom>
          <a:solidFill>
            <a:srgbClr val="EAF4F3"/>
          </a:solidFill>
          <a:ln/>
        </p:spPr>
      </p:sp>
      <p:pic>
        <p:nvPicPr>
          <p:cNvPr id="22" name="Image 3" descr="preencoded.png"/>
          <p:cNvPicPr>
            <a:picLocks noChangeAspect="1"/>
          </p:cNvPicPr>
          <p:nvPr/>
        </p:nvPicPr>
        <p:blipFill>
          <a:blip r:embed="rId6"/>
          <a:stretch>
            <a:fillRect/>
          </a:stretch>
        </p:blipFill>
        <p:spPr>
          <a:xfrm>
            <a:off x="6126480" y="4654296"/>
            <a:ext cx="292608" cy="292608"/>
          </a:xfrm>
          <a:prstGeom prst="rect">
            <a:avLst/>
          </a:prstGeom>
        </p:spPr>
      </p:pic>
      <p:sp>
        <p:nvSpPr>
          <p:cNvPr id="23" name="Text 17"/>
          <p:cNvSpPr/>
          <p:nvPr/>
        </p:nvSpPr>
        <p:spPr>
          <a:xfrm>
            <a:off x="6720840" y="4480560"/>
            <a:ext cx="4846320" cy="365760"/>
          </a:xfrm>
          <a:prstGeom prst="rect">
            <a:avLst/>
          </a:prstGeom>
          <a:noFill/>
          <a:ln/>
        </p:spPr>
        <p:txBody>
          <a:bodyPr wrap="square" lIns="0" tIns="0" rIns="0" bIns="0" rtlCol="0" anchor="ctr"/>
          <a:lstStyle/>
          <a:p>
            <a:pPr marL="0" indent="0">
              <a:buNone/>
            </a:pPr>
            <a:r>
              <a:rPr lang="en-US" sz="1500" b="1" dirty="0">
                <a:solidFill>
                  <a:srgbClr val="1B2B2E"/>
                </a:solidFill>
                <a:latin typeface="Calibri" pitchFamily="34" charset="0"/>
                <a:ea typeface="Calibri" pitchFamily="34" charset="-122"/>
                <a:cs typeface="Calibri" pitchFamily="34" charset="-120"/>
              </a:rPr>
              <a:t>Resources &amp; budget</a:t>
            </a:r>
            <a:endParaRPr lang="en-US" sz="1500" dirty="0"/>
          </a:p>
        </p:txBody>
      </p:sp>
      <p:sp>
        <p:nvSpPr>
          <p:cNvPr id="24" name="Text 18"/>
          <p:cNvSpPr/>
          <p:nvPr/>
        </p:nvSpPr>
        <p:spPr>
          <a:xfrm>
            <a:off x="6720840" y="4818888"/>
            <a:ext cx="4846320" cy="365760"/>
          </a:xfrm>
          <a:prstGeom prst="rect">
            <a:avLst/>
          </a:prstGeom>
          <a:noFill/>
          <a:ln/>
        </p:spPr>
        <p:txBody>
          <a:bodyPr wrap="square" lIns="0" tIns="0" rIns="0" bIns="0" rtlCol="0" anchor="ctr"/>
          <a:lstStyle/>
          <a:p>
            <a:pPr marL="0" indent="0">
              <a:buNone/>
            </a:pPr>
            <a:r>
              <a:rPr lang="en-US" sz="1250" dirty="0">
                <a:solidFill>
                  <a:srgbClr val="5B6E71"/>
                </a:solidFill>
                <a:latin typeface="Calibri" pitchFamily="34" charset="0"/>
                <a:ea typeface="Calibri" pitchFamily="34" charset="-122"/>
                <a:cs typeface="Calibri" pitchFamily="34" charset="-120"/>
              </a:rPr>
              <a:t>People, funding, tools, and materials needed</a:t>
            </a:r>
            <a:endParaRPr lang="en-US" sz="1250" dirty="0"/>
          </a:p>
        </p:txBody>
      </p:sp>
      <p:sp>
        <p:nvSpPr>
          <p:cNvPr id="25" name="Shape 19"/>
          <p:cNvSpPr/>
          <p:nvPr/>
        </p:nvSpPr>
        <p:spPr>
          <a:xfrm>
            <a:off x="5989320" y="5276088"/>
            <a:ext cx="566928" cy="566928"/>
          </a:xfrm>
          <a:prstGeom prst="ellipse">
            <a:avLst/>
          </a:prstGeom>
          <a:solidFill>
            <a:srgbClr val="EAF4F3"/>
          </a:solidFill>
          <a:ln/>
        </p:spPr>
      </p:sp>
      <p:pic>
        <p:nvPicPr>
          <p:cNvPr id="26" name="Image 4" descr="preencoded.png"/>
          <p:cNvPicPr>
            <a:picLocks noChangeAspect="1"/>
          </p:cNvPicPr>
          <p:nvPr/>
        </p:nvPicPr>
        <p:blipFill>
          <a:blip r:embed="rId7"/>
          <a:stretch>
            <a:fillRect/>
          </a:stretch>
        </p:blipFill>
        <p:spPr>
          <a:xfrm>
            <a:off x="6126480" y="5413248"/>
            <a:ext cx="292608" cy="292608"/>
          </a:xfrm>
          <a:prstGeom prst="rect">
            <a:avLst/>
          </a:prstGeom>
        </p:spPr>
      </p:pic>
      <p:sp>
        <p:nvSpPr>
          <p:cNvPr id="27" name="Text 20"/>
          <p:cNvSpPr/>
          <p:nvPr/>
        </p:nvSpPr>
        <p:spPr>
          <a:xfrm>
            <a:off x="6720840" y="5239512"/>
            <a:ext cx="4846320" cy="365760"/>
          </a:xfrm>
          <a:prstGeom prst="rect">
            <a:avLst/>
          </a:prstGeom>
          <a:noFill/>
          <a:ln/>
        </p:spPr>
        <p:txBody>
          <a:bodyPr wrap="square" lIns="0" tIns="0" rIns="0" bIns="0" rtlCol="0" anchor="ctr"/>
          <a:lstStyle/>
          <a:p>
            <a:pPr marL="0" indent="0">
              <a:buNone/>
            </a:pPr>
            <a:r>
              <a:rPr lang="en-US" sz="1500" b="1" dirty="0">
                <a:solidFill>
                  <a:srgbClr val="1B2B2E"/>
                </a:solidFill>
                <a:latin typeface="Calibri" pitchFamily="34" charset="0"/>
                <a:ea typeface="Calibri" pitchFamily="34" charset="-122"/>
                <a:cs typeface="Calibri" pitchFamily="34" charset="-120"/>
              </a:rPr>
              <a:t>Risks &amp; constraints</a:t>
            </a:r>
            <a:endParaRPr lang="en-US" sz="1500" dirty="0"/>
          </a:p>
        </p:txBody>
      </p:sp>
      <p:sp>
        <p:nvSpPr>
          <p:cNvPr id="28" name="Text 21"/>
          <p:cNvSpPr/>
          <p:nvPr/>
        </p:nvSpPr>
        <p:spPr>
          <a:xfrm>
            <a:off x="6720840" y="5577840"/>
            <a:ext cx="4846320" cy="365760"/>
          </a:xfrm>
          <a:prstGeom prst="rect">
            <a:avLst/>
          </a:prstGeom>
          <a:noFill/>
          <a:ln/>
        </p:spPr>
        <p:txBody>
          <a:bodyPr wrap="square" lIns="0" tIns="0" rIns="0" bIns="0" rtlCol="0" anchor="ctr"/>
          <a:lstStyle/>
          <a:p>
            <a:pPr marL="0" indent="0">
              <a:buNone/>
            </a:pPr>
            <a:r>
              <a:rPr lang="en-US" sz="1250" dirty="0">
                <a:solidFill>
                  <a:srgbClr val="5B6E71"/>
                </a:solidFill>
                <a:latin typeface="Calibri" pitchFamily="34" charset="0"/>
                <a:ea typeface="Calibri" pitchFamily="34" charset="-122"/>
                <a:cs typeface="Calibri" pitchFamily="34" charset="-120"/>
              </a:rPr>
              <a:t>What could go wrong and what limits us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9F8"/>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640080"/>
          </a:xfrm>
          <a:prstGeom prst="rect">
            <a:avLst/>
          </a:prstGeom>
          <a:noFill/>
          <a:ln/>
        </p:spPr>
        <p:txBody>
          <a:bodyPr wrap="square" rtlCol="0" anchor="ctr"/>
          <a:lstStyle/>
          <a:p>
            <a:pPr marL="0" indent="0">
              <a:buNone/>
            </a:pPr>
            <a:r>
              <a:rPr lang="en-US" sz="3400" b="1" dirty="0" smtClean="0">
                <a:solidFill>
                  <a:srgbClr val="0A2E36"/>
                </a:solidFill>
                <a:latin typeface="Cambria" pitchFamily="34" charset="0"/>
                <a:ea typeface="Cambria" pitchFamily="34" charset="-122"/>
                <a:cs typeface="Cambria" pitchFamily="34" charset="-120"/>
              </a:rPr>
              <a:t>Importance of Project Planning</a:t>
            </a:r>
            <a:endParaRPr lang="en-US" sz="3400" dirty="0"/>
          </a:p>
        </p:txBody>
      </p:sp>
      <p:sp>
        <p:nvSpPr>
          <p:cNvPr id="3" name="Text 1"/>
          <p:cNvSpPr/>
          <p:nvPr/>
        </p:nvSpPr>
        <p:spPr>
          <a:xfrm>
            <a:off x="658368" y="1078992"/>
            <a:ext cx="10972800" cy="365760"/>
          </a:xfrm>
          <a:prstGeom prst="rect">
            <a:avLst/>
          </a:prstGeom>
          <a:noFill/>
          <a:ln/>
        </p:spPr>
        <p:txBody>
          <a:bodyPr wrap="square" rtlCol="0" anchor="ctr"/>
          <a:lstStyle/>
          <a:p>
            <a:pPr marL="0" indent="0">
              <a:buNone/>
            </a:pPr>
            <a:r>
              <a:rPr lang="en-US" sz="1500" i="1" dirty="0">
                <a:solidFill>
                  <a:srgbClr val="028090"/>
                </a:solidFill>
                <a:latin typeface="Calibri" pitchFamily="34" charset="0"/>
                <a:ea typeface="Calibri" pitchFamily="34" charset="-122"/>
                <a:cs typeface="Calibri" pitchFamily="34" charset="-120"/>
              </a:rPr>
              <a:t>Good </a:t>
            </a:r>
            <a:r>
              <a:rPr lang="en-US" sz="1500" i="1" dirty="0" smtClean="0">
                <a:solidFill>
                  <a:srgbClr val="028090"/>
                </a:solidFill>
                <a:latin typeface="Calibri" pitchFamily="34" charset="0"/>
                <a:ea typeface="Calibri" pitchFamily="34" charset="-122"/>
                <a:cs typeface="Calibri" pitchFamily="34" charset="-120"/>
              </a:rPr>
              <a:t>planning lowers the probability of projects failure</a:t>
            </a:r>
            <a:endParaRPr lang="en-US" sz="1500" dirty="0"/>
          </a:p>
        </p:txBody>
      </p:sp>
      <p:sp>
        <p:nvSpPr>
          <p:cNvPr id="4" name="Shape 2"/>
          <p:cNvSpPr/>
          <p:nvPr/>
        </p:nvSpPr>
        <p:spPr>
          <a:xfrm>
            <a:off x="640080" y="1783080"/>
            <a:ext cx="5394960" cy="4343400"/>
          </a:xfrm>
          <a:prstGeom prst="roundRect">
            <a:avLst>
              <a:gd name="adj" fmla="val 2526"/>
            </a:avLst>
          </a:prstGeom>
          <a:solidFill>
            <a:srgbClr val="FFFFFF"/>
          </a:solidFill>
          <a:ln w="19050">
            <a:solidFill>
              <a:srgbClr val="00A896"/>
            </a:solidFill>
            <a:prstDash val="solid"/>
          </a:ln>
        </p:spPr>
      </p:sp>
      <p:sp>
        <p:nvSpPr>
          <p:cNvPr id="5" name="Shape 3"/>
          <p:cNvSpPr/>
          <p:nvPr/>
        </p:nvSpPr>
        <p:spPr>
          <a:xfrm>
            <a:off x="905256" y="2048256"/>
            <a:ext cx="658368" cy="658368"/>
          </a:xfrm>
          <a:prstGeom prst="ellipse">
            <a:avLst/>
          </a:prstGeom>
          <a:solidFill>
            <a:srgbClr val="028090"/>
          </a:solidFill>
          <a:ln/>
        </p:spPr>
      </p:sp>
      <p:pic>
        <p:nvPicPr>
          <p:cNvPr id="6" name="Image 0" descr="preencoded.png"/>
          <p:cNvPicPr>
            <a:picLocks noChangeAspect="1"/>
          </p:cNvPicPr>
          <p:nvPr/>
        </p:nvPicPr>
        <p:blipFill>
          <a:blip r:embed="rId3"/>
          <a:stretch>
            <a:fillRect/>
          </a:stretch>
        </p:blipFill>
        <p:spPr>
          <a:xfrm>
            <a:off x="1069848" y="2212848"/>
            <a:ext cx="329184" cy="329184"/>
          </a:xfrm>
          <a:prstGeom prst="rect">
            <a:avLst/>
          </a:prstGeom>
        </p:spPr>
      </p:pic>
      <p:sp>
        <p:nvSpPr>
          <p:cNvPr id="7" name="Text 4"/>
          <p:cNvSpPr/>
          <p:nvPr/>
        </p:nvSpPr>
        <p:spPr>
          <a:xfrm>
            <a:off x="1737360" y="2084832"/>
            <a:ext cx="4114800" cy="548640"/>
          </a:xfrm>
          <a:prstGeom prst="rect">
            <a:avLst/>
          </a:prstGeom>
          <a:noFill/>
          <a:ln/>
        </p:spPr>
        <p:txBody>
          <a:bodyPr wrap="square" rtlCol="0" anchor="ctr"/>
          <a:lstStyle/>
          <a:p>
            <a:pPr marL="0" indent="0">
              <a:buNone/>
            </a:pPr>
            <a:r>
              <a:rPr lang="en-US" sz="1700" b="1" dirty="0">
                <a:solidFill>
                  <a:srgbClr val="0A2E36"/>
                </a:solidFill>
                <a:latin typeface="Calibri" pitchFamily="34" charset="0"/>
                <a:ea typeface="Calibri" pitchFamily="34" charset="-122"/>
                <a:cs typeface="Calibri" pitchFamily="34" charset="-120"/>
              </a:rPr>
              <a:t>What planning accomplishes</a:t>
            </a:r>
            <a:endParaRPr lang="en-US" sz="1700" dirty="0"/>
          </a:p>
        </p:txBody>
      </p:sp>
      <p:sp>
        <p:nvSpPr>
          <p:cNvPr id="8" name="Text 5"/>
          <p:cNvSpPr/>
          <p:nvPr/>
        </p:nvSpPr>
        <p:spPr>
          <a:xfrm>
            <a:off x="914400" y="2971800"/>
            <a:ext cx="4846320" cy="2926080"/>
          </a:xfrm>
          <a:prstGeom prst="rect">
            <a:avLst/>
          </a:prstGeom>
          <a:noFill/>
          <a:ln/>
        </p:spPr>
        <p:txBody>
          <a:bodyPr wrap="square" rtlCol="0" anchor="ctr"/>
          <a:lstStyle/>
          <a:p>
            <a:pPr marL="177800" indent="-177800">
              <a:lnSpc>
                <a:spcPts val="1900"/>
              </a:lnSpc>
              <a:spcAft>
                <a:spcPts val="1200"/>
              </a:spcAft>
              <a:buSzPct val="100000"/>
              <a:buChar char="•"/>
            </a:pPr>
            <a:r>
              <a:rPr lang="en-US" sz="1450" dirty="0">
                <a:solidFill>
                  <a:srgbClr val="1B2B2E"/>
                </a:solidFill>
                <a:latin typeface="Calibri" pitchFamily="34" charset="0"/>
                <a:ea typeface="Calibri" pitchFamily="34" charset="-122"/>
                <a:cs typeface="Calibri" pitchFamily="34" charset="-120"/>
              </a:rPr>
              <a:t>A shared roadmap </a:t>
            </a:r>
            <a:endParaRPr lang="en-US" sz="1450" dirty="0" smtClean="0">
              <a:solidFill>
                <a:srgbClr val="1B2B2E"/>
              </a:solidFill>
              <a:latin typeface="Calibri" pitchFamily="34" charset="0"/>
              <a:ea typeface="Calibri" pitchFamily="34" charset="-122"/>
              <a:cs typeface="Calibri" pitchFamily="34" charset="-120"/>
            </a:endParaRPr>
          </a:p>
          <a:p>
            <a:pPr marL="177800" indent="-177800">
              <a:lnSpc>
                <a:spcPts val="1900"/>
              </a:lnSpc>
              <a:spcAft>
                <a:spcPts val="1200"/>
              </a:spcAft>
              <a:buSzPct val="100000"/>
              <a:buChar char="•"/>
            </a:pPr>
            <a:r>
              <a:rPr lang="en-US" sz="1450" dirty="0" smtClean="0">
                <a:solidFill>
                  <a:srgbClr val="1B2B2E"/>
                </a:solidFill>
                <a:latin typeface="Calibri" pitchFamily="34" charset="0"/>
                <a:ea typeface="Calibri" pitchFamily="34" charset="-122"/>
                <a:cs typeface="Calibri" pitchFamily="34" charset="-120"/>
              </a:rPr>
              <a:t>A </a:t>
            </a:r>
            <a:r>
              <a:rPr lang="en-US" sz="1450" dirty="0">
                <a:solidFill>
                  <a:srgbClr val="1B2B2E"/>
                </a:solidFill>
                <a:latin typeface="Calibri" pitchFamily="34" charset="0"/>
                <a:ea typeface="Calibri" pitchFamily="34" charset="-122"/>
                <a:cs typeface="Calibri" pitchFamily="34" charset="-120"/>
              </a:rPr>
              <a:t>realistic </a:t>
            </a:r>
            <a:r>
              <a:rPr lang="en-US" sz="1450" dirty="0" smtClean="0">
                <a:solidFill>
                  <a:srgbClr val="1B2B2E"/>
                </a:solidFill>
                <a:latin typeface="Calibri" pitchFamily="34" charset="0"/>
                <a:ea typeface="Calibri" pitchFamily="34" charset="-122"/>
                <a:cs typeface="Calibri" pitchFamily="34" charset="-120"/>
              </a:rPr>
              <a:t>schedule</a:t>
            </a:r>
            <a:endParaRPr lang="en-US" sz="1450" dirty="0"/>
          </a:p>
          <a:p>
            <a:pPr marL="177800" indent="-177800">
              <a:lnSpc>
                <a:spcPts val="1900"/>
              </a:lnSpc>
              <a:spcAft>
                <a:spcPts val="1200"/>
              </a:spcAft>
              <a:buSzPct val="100000"/>
              <a:buChar char="•"/>
            </a:pPr>
            <a:r>
              <a:rPr lang="en-US" sz="1450" dirty="0">
                <a:solidFill>
                  <a:srgbClr val="1B2B2E"/>
                </a:solidFill>
                <a:latin typeface="Calibri" pitchFamily="34" charset="0"/>
                <a:ea typeface="Calibri" pitchFamily="34" charset="-122"/>
                <a:cs typeface="Calibri" pitchFamily="34" charset="-120"/>
              </a:rPr>
              <a:t>Defined </a:t>
            </a:r>
            <a:r>
              <a:rPr lang="en-US" sz="1450" dirty="0" smtClean="0">
                <a:solidFill>
                  <a:srgbClr val="1B2B2E"/>
                </a:solidFill>
                <a:latin typeface="Calibri" pitchFamily="34" charset="0"/>
                <a:ea typeface="Calibri" pitchFamily="34" charset="-122"/>
                <a:cs typeface="Calibri" pitchFamily="34" charset="-120"/>
              </a:rPr>
              <a:t>roles</a:t>
            </a:r>
            <a:endParaRPr lang="en-US" sz="1450" dirty="0"/>
          </a:p>
          <a:p>
            <a:pPr marL="177800" indent="-177800">
              <a:lnSpc>
                <a:spcPts val="1900"/>
              </a:lnSpc>
              <a:spcAft>
                <a:spcPts val="1200"/>
              </a:spcAft>
              <a:buSzPct val="100000"/>
              <a:buChar char="•"/>
            </a:pPr>
            <a:r>
              <a:rPr lang="en-US" sz="1450" dirty="0" smtClean="0">
                <a:solidFill>
                  <a:srgbClr val="1B2B2E"/>
                </a:solidFill>
                <a:latin typeface="Calibri" pitchFamily="34" charset="0"/>
                <a:ea typeface="Calibri" pitchFamily="34" charset="-122"/>
                <a:cs typeface="Calibri" pitchFamily="34" charset="-120"/>
              </a:rPr>
              <a:t>Effective resources allocation</a:t>
            </a:r>
            <a:endParaRPr lang="en-US" sz="1450" dirty="0"/>
          </a:p>
          <a:p>
            <a:pPr marL="177800" indent="-177800">
              <a:lnSpc>
                <a:spcPts val="1900"/>
              </a:lnSpc>
              <a:spcAft>
                <a:spcPts val="1200"/>
              </a:spcAft>
              <a:buSzPct val="100000"/>
              <a:buChar char="•"/>
            </a:pPr>
            <a:r>
              <a:rPr lang="en-US" sz="1450" dirty="0">
                <a:solidFill>
                  <a:srgbClr val="1B2B2E"/>
                </a:solidFill>
                <a:latin typeface="Calibri" pitchFamily="34" charset="0"/>
                <a:ea typeface="Calibri" pitchFamily="34" charset="-122"/>
                <a:cs typeface="Calibri" pitchFamily="34" charset="-120"/>
              </a:rPr>
              <a:t>Risks identified </a:t>
            </a:r>
            <a:r>
              <a:rPr lang="en-US" sz="1450" dirty="0" smtClean="0">
                <a:solidFill>
                  <a:srgbClr val="1B2B2E"/>
                </a:solidFill>
                <a:latin typeface="Calibri" pitchFamily="34" charset="0"/>
                <a:ea typeface="Calibri" pitchFamily="34" charset="-122"/>
                <a:cs typeface="Calibri" pitchFamily="34" charset="-120"/>
              </a:rPr>
              <a:t>for earlier mitigation</a:t>
            </a:r>
            <a:endParaRPr lang="en-US" sz="1450" dirty="0"/>
          </a:p>
        </p:txBody>
      </p:sp>
      <p:sp>
        <p:nvSpPr>
          <p:cNvPr id="9" name="Shape 6"/>
          <p:cNvSpPr/>
          <p:nvPr/>
        </p:nvSpPr>
        <p:spPr>
          <a:xfrm>
            <a:off x="6263640" y="1783080"/>
            <a:ext cx="5257800" cy="4343400"/>
          </a:xfrm>
          <a:prstGeom prst="roundRect">
            <a:avLst>
              <a:gd name="adj" fmla="val 2526"/>
            </a:avLst>
          </a:prstGeom>
          <a:solidFill>
            <a:srgbClr val="0A2E36"/>
          </a:solidFill>
          <a:ln/>
        </p:spPr>
      </p:sp>
      <p:sp>
        <p:nvSpPr>
          <p:cNvPr id="10" name="Shape 7"/>
          <p:cNvSpPr/>
          <p:nvPr/>
        </p:nvSpPr>
        <p:spPr>
          <a:xfrm>
            <a:off x="6528816" y="2048256"/>
            <a:ext cx="658368" cy="658368"/>
          </a:xfrm>
          <a:prstGeom prst="ellipse">
            <a:avLst/>
          </a:prstGeom>
          <a:solidFill>
            <a:srgbClr val="C0392B"/>
          </a:solidFill>
          <a:ln/>
        </p:spPr>
      </p:sp>
      <p:pic>
        <p:nvPicPr>
          <p:cNvPr id="11" name="Image 1" descr="preencoded.png"/>
          <p:cNvPicPr>
            <a:picLocks noChangeAspect="1"/>
          </p:cNvPicPr>
          <p:nvPr/>
        </p:nvPicPr>
        <p:blipFill>
          <a:blip r:embed="rId4"/>
          <a:stretch>
            <a:fillRect/>
          </a:stretch>
        </p:blipFill>
        <p:spPr>
          <a:xfrm>
            <a:off x="6706575" y="2226015"/>
            <a:ext cx="302849" cy="302849"/>
          </a:xfrm>
          <a:prstGeom prst="rect">
            <a:avLst/>
          </a:prstGeom>
        </p:spPr>
      </p:pic>
      <p:sp>
        <p:nvSpPr>
          <p:cNvPr id="12" name="Text 8"/>
          <p:cNvSpPr/>
          <p:nvPr/>
        </p:nvSpPr>
        <p:spPr>
          <a:xfrm>
            <a:off x="7360920" y="2084832"/>
            <a:ext cx="3931920" cy="548640"/>
          </a:xfrm>
          <a:prstGeom prst="rect">
            <a:avLst/>
          </a:prstGeom>
          <a:noFill/>
          <a:ln/>
        </p:spPr>
        <p:txBody>
          <a:bodyPr wrap="square"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What planning prevents</a:t>
            </a:r>
            <a:endParaRPr lang="en-US" sz="1700" dirty="0"/>
          </a:p>
        </p:txBody>
      </p:sp>
      <p:sp>
        <p:nvSpPr>
          <p:cNvPr id="13" name="Text 9"/>
          <p:cNvSpPr/>
          <p:nvPr/>
        </p:nvSpPr>
        <p:spPr>
          <a:xfrm>
            <a:off x="6537960" y="2971800"/>
            <a:ext cx="4754880" cy="2926080"/>
          </a:xfrm>
          <a:prstGeom prst="rect">
            <a:avLst/>
          </a:prstGeom>
          <a:noFill/>
          <a:ln/>
        </p:spPr>
        <p:txBody>
          <a:bodyPr wrap="square" rtlCol="0" anchor="ctr"/>
          <a:lstStyle/>
          <a:p>
            <a:pPr marL="177800" indent="-177800">
              <a:lnSpc>
                <a:spcPts val="1900"/>
              </a:lnSpc>
              <a:spcAft>
                <a:spcPts val="1200"/>
              </a:spcAft>
              <a:buSzPct val="100000"/>
              <a:buChar char="•"/>
            </a:pPr>
            <a:r>
              <a:rPr lang="en-US" sz="1450" dirty="0">
                <a:solidFill>
                  <a:srgbClr val="E7F0EF"/>
                </a:solidFill>
                <a:latin typeface="Calibri" pitchFamily="34" charset="0"/>
                <a:ea typeface="Calibri" pitchFamily="34" charset="-122"/>
                <a:cs typeface="Calibri" pitchFamily="34" charset="-120"/>
              </a:rPr>
              <a:t>Scope creep </a:t>
            </a:r>
            <a:endParaRPr lang="en-US" sz="1450" dirty="0"/>
          </a:p>
          <a:p>
            <a:pPr marL="177800" indent="-177800">
              <a:lnSpc>
                <a:spcPts val="1900"/>
              </a:lnSpc>
              <a:spcAft>
                <a:spcPts val="1200"/>
              </a:spcAft>
              <a:buSzPct val="100000"/>
              <a:buChar char="•"/>
            </a:pPr>
            <a:r>
              <a:rPr lang="en-US" sz="1450" dirty="0">
                <a:solidFill>
                  <a:srgbClr val="E7F0EF"/>
                </a:solidFill>
                <a:latin typeface="Calibri" pitchFamily="34" charset="0"/>
                <a:ea typeface="Calibri" pitchFamily="34" charset="-122"/>
                <a:cs typeface="Calibri" pitchFamily="34" charset="-120"/>
              </a:rPr>
              <a:t>Cost </a:t>
            </a:r>
            <a:r>
              <a:rPr lang="en-US" sz="1450" dirty="0" smtClean="0">
                <a:solidFill>
                  <a:srgbClr val="E7F0EF"/>
                </a:solidFill>
                <a:latin typeface="Calibri" pitchFamily="34" charset="0"/>
                <a:ea typeface="Calibri" pitchFamily="34" charset="-122"/>
                <a:cs typeface="Calibri" pitchFamily="34" charset="-120"/>
              </a:rPr>
              <a:t>overruns</a:t>
            </a:r>
            <a:endParaRPr lang="en-US" sz="1450" dirty="0"/>
          </a:p>
          <a:p>
            <a:pPr marL="177800" indent="-177800">
              <a:lnSpc>
                <a:spcPts val="1900"/>
              </a:lnSpc>
              <a:spcAft>
                <a:spcPts val="1200"/>
              </a:spcAft>
              <a:buSzPct val="100000"/>
              <a:buChar char="•"/>
            </a:pPr>
            <a:r>
              <a:rPr lang="en-US" sz="1450" dirty="0">
                <a:solidFill>
                  <a:srgbClr val="E7F0EF"/>
                </a:solidFill>
                <a:latin typeface="Calibri" pitchFamily="34" charset="0"/>
                <a:ea typeface="Calibri" pitchFamily="34" charset="-122"/>
                <a:cs typeface="Calibri" pitchFamily="34" charset="-120"/>
              </a:rPr>
              <a:t>Missed deadlines and cascading delays</a:t>
            </a:r>
            <a:endParaRPr lang="en-US" sz="1450" dirty="0"/>
          </a:p>
          <a:p>
            <a:pPr marL="177800" indent="-177800">
              <a:lnSpc>
                <a:spcPts val="1900"/>
              </a:lnSpc>
              <a:spcAft>
                <a:spcPts val="1200"/>
              </a:spcAft>
              <a:buSzPct val="100000"/>
              <a:buChar char="•"/>
            </a:pPr>
            <a:r>
              <a:rPr lang="en-US" sz="1450" dirty="0">
                <a:solidFill>
                  <a:srgbClr val="E7F0EF"/>
                </a:solidFill>
                <a:latin typeface="Calibri" pitchFamily="34" charset="0"/>
                <a:ea typeface="Calibri" pitchFamily="34" charset="-122"/>
                <a:cs typeface="Calibri" pitchFamily="34" charset="-120"/>
              </a:rPr>
              <a:t>Duplicated </a:t>
            </a:r>
            <a:r>
              <a:rPr lang="en-US" sz="1450" dirty="0" smtClean="0">
                <a:solidFill>
                  <a:srgbClr val="E7F0EF"/>
                </a:solidFill>
                <a:latin typeface="Calibri" pitchFamily="34" charset="0"/>
                <a:ea typeface="Calibri" pitchFamily="34" charset="-122"/>
                <a:cs typeface="Calibri" pitchFamily="34" charset="-120"/>
              </a:rPr>
              <a:t>effort </a:t>
            </a:r>
            <a:r>
              <a:rPr lang="en-US" sz="1450" dirty="0">
                <a:solidFill>
                  <a:srgbClr val="E7F0EF"/>
                </a:solidFill>
                <a:latin typeface="Calibri" pitchFamily="34" charset="0"/>
                <a:ea typeface="Calibri" pitchFamily="34" charset="-122"/>
                <a:cs typeface="Calibri" pitchFamily="34" charset="-120"/>
              </a:rPr>
              <a:t>across the team</a:t>
            </a:r>
            <a:endParaRPr lang="en-US" sz="1450" dirty="0"/>
          </a:p>
          <a:p>
            <a:pPr marL="177800" indent="-177800">
              <a:lnSpc>
                <a:spcPts val="1900"/>
              </a:lnSpc>
              <a:spcAft>
                <a:spcPts val="1200"/>
              </a:spcAft>
              <a:buSzPct val="100000"/>
              <a:buChar char="•"/>
            </a:pPr>
            <a:r>
              <a:rPr lang="en-US" sz="1450" dirty="0" smtClean="0">
                <a:solidFill>
                  <a:srgbClr val="E7F0EF"/>
                </a:solidFill>
                <a:latin typeface="Calibri" pitchFamily="34" charset="0"/>
                <a:ea typeface="Calibri" pitchFamily="34" charset="-122"/>
                <a:cs typeface="Calibri" pitchFamily="34" charset="-120"/>
              </a:rPr>
              <a:t>wasted </a:t>
            </a:r>
            <a:r>
              <a:rPr lang="en-US" sz="1450" dirty="0">
                <a:solidFill>
                  <a:srgbClr val="E7F0EF"/>
                </a:solidFill>
                <a:latin typeface="Calibri" pitchFamily="34" charset="0"/>
                <a:ea typeface="Calibri" pitchFamily="34" charset="-122"/>
                <a:cs typeface="Calibri" pitchFamily="34" charset="-120"/>
              </a:rPr>
              <a:t>resources</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2E36"/>
        </a:solidFill>
        <a:effectLst/>
      </p:bgPr>
    </p:bg>
    <p:spTree>
      <p:nvGrpSpPr>
        <p:cNvPr id="1" name=""/>
        <p:cNvGrpSpPr/>
        <p:nvPr/>
      </p:nvGrpSpPr>
      <p:grpSpPr>
        <a:xfrm>
          <a:off x="0" y="0"/>
          <a:ext cx="0" cy="0"/>
          <a:chOff x="0" y="0"/>
          <a:chExt cx="0" cy="0"/>
        </a:xfrm>
      </p:grpSpPr>
      <p:sp>
        <p:nvSpPr>
          <p:cNvPr id="2" name="Text 0"/>
          <p:cNvSpPr/>
          <p:nvPr/>
        </p:nvSpPr>
        <p:spPr>
          <a:xfrm>
            <a:off x="640080" y="502920"/>
            <a:ext cx="10972800" cy="640080"/>
          </a:xfrm>
          <a:prstGeom prst="rect">
            <a:avLst/>
          </a:prstGeom>
          <a:noFill/>
          <a:ln/>
        </p:spPr>
        <p:txBody>
          <a:bodyPr wrap="square"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Five Phases, One Continuous Path</a:t>
            </a:r>
            <a:endParaRPr lang="en-US" sz="3400" dirty="0"/>
          </a:p>
        </p:txBody>
      </p:sp>
      <p:sp>
        <p:nvSpPr>
          <p:cNvPr id="3" name="Text 1"/>
          <p:cNvSpPr/>
          <p:nvPr/>
        </p:nvSpPr>
        <p:spPr>
          <a:xfrm>
            <a:off x="658368" y="1143000"/>
            <a:ext cx="10972800" cy="365760"/>
          </a:xfrm>
          <a:prstGeom prst="rect">
            <a:avLst/>
          </a:prstGeom>
          <a:noFill/>
          <a:ln/>
        </p:spPr>
        <p:txBody>
          <a:bodyPr wrap="square" rtlCol="0" anchor="ctr"/>
          <a:lstStyle/>
          <a:p>
            <a:pPr marL="0" indent="0">
              <a:buNone/>
            </a:pPr>
            <a:r>
              <a:rPr lang="en-US" sz="1500" i="1" dirty="0">
                <a:solidFill>
                  <a:srgbClr val="00A896"/>
                </a:solidFill>
                <a:latin typeface="Calibri" pitchFamily="34" charset="0"/>
                <a:ea typeface="Calibri" pitchFamily="34" charset="-122"/>
                <a:cs typeface="Calibri" pitchFamily="34" charset="-120"/>
              </a:rPr>
              <a:t>Every project moves through the same life </a:t>
            </a:r>
            <a:r>
              <a:rPr lang="en-US" sz="1500" i="1" dirty="0" smtClean="0">
                <a:solidFill>
                  <a:srgbClr val="00A896"/>
                </a:solidFill>
                <a:latin typeface="Calibri" pitchFamily="34" charset="0"/>
                <a:ea typeface="Calibri" pitchFamily="34" charset="-122"/>
                <a:cs typeface="Calibri" pitchFamily="34" charset="-120"/>
              </a:rPr>
              <a:t>cycle</a:t>
            </a:r>
            <a:endParaRPr lang="en-US" sz="1500" dirty="0"/>
          </a:p>
        </p:txBody>
      </p:sp>
      <p:sp>
        <p:nvSpPr>
          <p:cNvPr id="4" name="Shape 2"/>
          <p:cNvSpPr/>
          <p:nvPr/>
        </p:nvSpPr>
        <p:spPr>
          <a:xfrm>
            <a:off x="667512" y="2331720"/>
            <a:ext cx="1965960" cy="3200400"/>
          </a:xfrm>
          <a:prstGeom prst="roundRect">
            <a:avLst>
              <a:gd name="adj" fmla="val 4651"/>
            </a:avLst>
          </a:prstGeom>
          <a:solidFill>
            <a:srgbClr val="0F3B44"/>
          </a:solidFill>
          <a:ln w="12700">
            <a:solidFill>
              <a:srgbClr val="028090"/>
            </a:solidFill>
            <a:prstDash val="solid"/>
          </a:ln>
        </p:spPr>
      </p:sp>
      <p:sp>
        <p:nvSpPr>
          <p:cNvPr id="5" name="Shape 3"/>
          <p:cNvSpPr/>
          <p:nvPr/>
        </p:nvSpPr>
        <p:spPr>
          <a:xfrm>
            <a:off x="1170432" y="2720340"/>
            <a:ext cx="960120" cy="960120"/>
          </a:xfrm>
          <a:prstGeom prst="ellipse">
            <a:avLst/>
          </a:prstGeom>
          <a:solidFill>
            <a:srgbClr val="028090"/>
          </a:solidFill>
          <a:ln/>
        </p:spPr>
      </p:sp>
      <p:pic>
        <p:nvPicPr>
          <p:cNvPr id="6" name="Image 0" descr="preencoded.png"/>
          <p:cNvPicPr>
            <a:picLocks noChangeAspect="1"/>
          </p:cNvPicPr>
          <p:nvPr/>
        </p:nvPicPr>
        <p:blipFill>
          <a:blip r:embed="rId3"/>
          <a:stretch>
            <a:fillRect/>
          </a:stretch>
        </p:blipFill>
        <p:spPr>
          <a:xfrm>
            <a:off x="1410462" y="2960370"/>
            <a:ext cx="480060" cy="480060"/>
          </a:xfrm>
          <a:prstGeom prst="rect">
            <a:avLst/>
          </a:prstGeom>
        </p:spPr>
      </p:pic>
      <p:sp>
        <p:nvSpPr>
          <p:cNvPr id="7" name="Shape 4"/>
          <p:cNvSpPr/>
          <p:nvPr/>
        </p:nvSpPr>
        <p:spPr>
          <a:xfrm>
            <a:off x="2112264" y="2395728"/>
            <a:ext cx="457200" cy="457200"/>
          </a:xfrm>
          <a:prstGeom prst="ellipse">
            <a:avLst/>
          </a:prstGeom>
          <a:solidFill>
            <a:srgbClr val="02C39A"/>
          </a:solidFill>
          <a:ln/>
        </p:spPr>
      </p:sp>
      <p:sp>
        <p:nvSpPr>
          <p:cNvPr id="8" name="Text 5"/>
          <p:cNvSpPr/>
          <p:nvPr/>
        </p:nvSpPr>
        <p:spPr>
          <a:xfrm>
            <a:off x="2112264" y="2395728"/>
            <a:ext cx="457200" cy="457200"/>
          </a:xfrm>
          <a:prstGeom prst="rect">
            <a:avLst/>
          </a:prstGeom>
          <a:noFill/>
          <a:ln/>
        </p:spPr>
        <p:txBody>
          <a:bodyPr wrap="square" lIns="0" tIns="0" rIns="0" bIns="0" rtlCol="0" anchor="ctr"/>
          <a:lstStyle/>
          <a:p>
            <a:pPr marL="0" indent="0" algn="ctr">
              <a:buNone/>
            </a:pPr>
            <a:r>
              <a:rPr lang="en-US" sz="1100" b="1" dirty="0">
                <a:solidFill>
                  <a:srgbClr val="0A2E36"/>
                </a:solidFill>
                <a:latin typeface="Cambria" pitchFamily="34" charset="0"/>
                <a:ea typeface="Cambria" pitchFamily="34" charset="-122"/>
                <a:cs typeface="Cambria" pitchFamily="34" charset="-120"/>
              </a:rPr>
              <a:t>1</a:t>
            </a:r>
            <a:endParaRPr lang="en-US" sz="1100" dirty="0"/>
          </a:p>
        </p:txBody>
      </p:sp>
      <p:sp>
        <p:nvSpPr>
          <p:cNvPr id="9" name="Text 6"/>
          <p:cNvSpPr/>
          <p:nvPr/>
        </p:nvSpPr>
        <p:spPr>
          <a:xfrm>
            <a:off x="758952" y="3840480"/>
            <a:ext cx="1783080" cy="731520"/>
          </a:xfrm>
          <a:prstGeom prst="rect">
            <a:avLst/>
          </a:prstGeom>
          <a:noFill/>
          <a:ln/>
        </p:spPr>
        <p:txBody>
          <a:bodyPr wrap="square" rtlCol="0" anchor="t"/>
          <a:lstStyle/>
          <a:p>
            <a:pPr marL="0" indent="0" algn="ctr">
              <a:lnSpc>
                <a:spcPts val="1800"/>
              </a:lnSpc>
              <a:buNone/>
            </a:pPr>
            <a:r>
              <a:rPr lang="en-US" sz="1700" b="1" dirty="0">
                <a:solidFill>
                  <a:srgbClr val="FFFFFF"/>
                </a:solidFill>
                <a:latin typeface="Cambria" pitchFamily="34" charset="0"/>
                <a:ea typeface="Cambria" pitchFamily="34" charset="-122"/>
                <a:cs typeface="Cambria" pitchFamily="34" charset="-120"/>
              </a:rPr>
              <a:t>Initiation</a:t>
            </a:r>
            <a:endParaRPr lang="en-US" sz="1700" dirty="0"/>
          </a:p>
        </p:txBody>
      </p:sp>
      <p:sp>
        <p:nvSpPr>
          <p:cNvPr id="10" name="Text 7"/>
          <p:cNvSpPr/>
          <p:nvPr/>
        </p:nvSpPr>
        <p:spPr>
          <a:xfrm>
            <a:off x="758952" y="4709160"/>
            <a:ext cx="1783080" cy="548640"/>
          </a:xfrm>
          <a:prstGeom prst="rect">
            <a:avLst/>
          </a:prstGeom>
          <a:noFill/>
          <a:ln/>
        </p:spPr>
        <p:txBody>
          <a:bodyPr wrap="square" rtlCol="0" anchor="ctr"/>
          <a:lstStyle/>
          <a:p>
            <a:pPr marL="0" indent="0" algn="ctr">
              <a:buNone/>
            </a:pPr>
            <a:r>
              <a:rPr lang="en-US" sz="1250" i="1" dirty="0">
                <a:solidFill>
                  <a:srgbClr val="9FC4C2"/>
                </a:solidFill>
                <a:latin typeface="Calibri" pitchFamily="34" charset="0"/>
                <a:ea typeface="Calibri" pitchFamily="34" charset="-122"/>
                <a:cs typeface="Calibri" pitchFamily="34" charset="-120"/>
              </a:rPr>
              <a:t>Define &amp; authorize</a:t>
            </a:r>
            <a:endParaRPr lang="en-US" sz="1250" dirty="0"/>
          </a:p>
        </p:txBody>
      </p:sp>
      <p:sp>
        <p:nvSpPr>
          <p:cNvPr id="11" name="Shape 8"/>
          <p:cNvSpPr/>
          <p:nvPr/>
        </p:nvSpPr>
        <p:spPr>
          <a:xfrm>
            <a:off x="2651760" y="3822192"/>
            <a:ext cx="219456" cy="219456"/>
          </a:xfrm>
          <a:prstGeom prst="rightArrow">
            <a:avLst/>
          </a:prstGeom>
          <a:solidFill>
            <a:srgbClr val="02C39A"/>
          </a:solidFill>
          <a:ln/>
        </p:spPr>
      </p:sp>
      <p:sp>
        <p:nvSpPr>
          <p:cNvPr id="12" name="Shape 9"/>
          <p:cNvSpPr/>
          <p:nvPr/>
        </p:nvSpPr>
        <p:spPr>
          <a:xfrm>
            <a:off x="2889504" y="2331720"/>
            <a:ext cx="1965960" cy="3200400"/>
          </a:xfrm>
          <a:prstGeom prst="roundRect">
            <a:avLst>
              <a:gd name="adj" fmla="val 4651"/>
            </a:avLst>
          </a:prstGeom>
          <a:solidFill>
            <a:srgbClr val="0F3B44"/>
          </a:solidFill>
          <a:ln w="12700">
            <a:solidFill>
              <a:srgbClr val="028090"/>
            </a:solidFill>
            <a:prstDash val="solid"/>
          </a:ln>
        </p:spPr>
      </p:sp>
      <p:sp>
        <p:nvSpPr>
          <p:cNvPr id="13" name="Shape 10"/>
          <p:cNvSpPr/>
          <p:nvPr/>
        </p:nvSpPr>
        <p:spPr>
          <a:xfrm>
            <a:off x="3392424" y="2720340"/>
            <a:ext cx="960120" cy="960120"/>
          </a:xfrm>
          <a:prstGeom prst="ellipse">
            <a:avLst/>
          </a:prstGeom>
          <a:solidFill>
            <a:srgbClr val="00A896"/>
          </a:solidFill>
          <a:ln/>
        </p:spPr>
      </p:sp>
      <p:pic>
        <p:nvPicPr>
          <p:cNvPr id="14" name="Image 1" descr="preencoded.png"/>
          <p:cNvPicPr>
            <a:picLocks noChangeAspect="1"/>
          </p:cNvPicPr>
          <p:nvPr/>
        </p:nvPicPr>
        <p:blipFill>
          <a:blip r:embed="rId4"/>
          <a:stretch>
            <a:fillRect/>
          </a:stretch>
        </p:blipFill>
        <p:spPr>
          <a:xfrm>
            <a:off x="3632454" y="2960370"/>
            <a:ext cx="480060" cy="480060"/>
          </a:xfrm>
          <a:prstGeom prst="rect">
            <a:avLst/>
          </a:prstGeom>
        </p:spPr>
      </p:pic>
      <p:sp>
        <p:nvSpPr>
          <p:cNvPr id="15" name="Shape 11"/>
          <p:cNvSpPr/>
          <p:nvPr/>
        </p:nvSpPr>
        <p:spPr>
          <a:xfrm>
            <a:off x="4334256" y="2395728"/>
            <a:ext cx="457200" cy="457200"/>
          </a:xfrm>
          <a:prstGeom prst="ellipse">
            <a:avLst/>
          </a:prstGeom>
          <a:solidFill>
            <a:srgbClr val="02C39A"/>
          </a:solidFill>
          <a:ln/>
        </p:spPr>
      </p:sp>
      <p:sp>
        <p:nvSpPr>
          <p:cNvPr id="16" name="Text 12"/>
          <p:cNvSpPr/>
          <p:nvPr/>
        </p:nvSpPr>
        <p:spPr>
          <a:xfrm>
            <a:off x="4334256" y="2395728"/>
            <a:ext cx="457200" cy="457200"/>
          </a:xfrm>
          <a:prstGeom prst="rect">
            <a:avLst/>
          </a:prstGeom>
          <a:noFill/>
          <a:ln/>
        </p:spPr>
        <p:txBody>
          <a:bodyPr wrap="square" lIns="0" tIns="0" rIns="0" bIns="0" rtlCol="0" anchor="ctr"/>
          <a:lstStyle/>
          <a:p>
            <a:pPr marL="0" indent="0" algn="ctr">
              <a:buNone/>
            </a:pPr>
            <a:r>
              <a:rPr lang="en-US" sz="1100" b="1" dirty="0">
                <a:solidFill>
                  <a:srgbClr val="0A2E36"/>
                </a:solidFill>
                <a:latin typeface="Cambria" pitchFamily="34" charset="0"/>
                <a:ea typeface="Cambria" pitchFamily="34" charset="-122"/>
                <a:cs typeface="Cambria" pitchFamily="34" charset="-120"/>
              </a:rPr>
              <a:t>2</a:t>
            </a:r>
            <a:endParaRPr lang="en-US" sz="1100" dirty="0"/>
          </a:p>
        </p:txBody>
      </p:sp>
      <p:sp>
        <p:nvSpPr>
          <p:cNvPr id="17" name="Text 13"/>
          <p:cNvSpPr/>
          <p:nvPr/>
        </p:nvSpPr>
        <p:spPr>
          <a:xfrm>
            <a:off x="2980944" y="3840480"/>
            <a:ext cx="1783080" cy="731520"/>
          </a:xfrm>
          <a:prstGeom prst="rect">
            <a:avLst/>
          </a:prstGeom>
          <a:noFill/>
          <a:ln/>
        </p:spPr>
        <p:txBody>
          <a:bodyPr wrap="square" rtlCol="0" anchor="t"/>
          <a:lstStyle/>
          <a:p>
            <a:pPr marL="0" indent="0" algn="ctr">
              <a:lnSpc>
                <a:spcPts val="1800"/>
              </a:lnSpc>
              <a:buNone/>
            </a:pPr>
            <a:r>
              <a:rPr lang="en-US" sz="1700" b="1" dirty="0">
                <a:solidFill>
                  <a:srgbClr val="FFFFFF"/>
                </a:solidFill>
                <a:latin typeface="Cambria" pitchFamily="34" charset="0"/>
                <a:ea typeface="Cambria" pitchFamily="34" charset="-122"/>
                <a:cs typeface="Cambria" pitchFamily="34" charset="-120"/>
              </a:rPr>
              <a:t>Planning</a:t>
            </a:r>
            <a:endParaRPr lang="en-US" sz="1700" dirty="0"/>
          </a:p>
        </p:txBody>
      </p:sp>
      <p:sp>
        <p:nvSpPr>
          <p:cNvPr id="18" name="Text 14"/>
          <p:cNvSpPr/>
          <p:nvPr/>
        </p:nvSpPr>
        <p:spPr>
          <a:xfrm>
            <a:off x="2980944" y="4709160"/>
            <a:ext cx="1783080" cy="548640"/>
          </a:xfrm>
          <a:prstGeom prst="rect">
            <a:avLst/>
          </a:prstGeom>
          <a:noFill/>
          <a:ln/>
        </p:spPr>
        <p:txBody>
          <a:bodyPr wrap="square" rtlCol="0" anchor="ctr"/>
          <a:lstStyle/>
          <a:p>
            <a:pPr marL="0" indent="0" algn="ctr">
              <a:buNone/>
            </a:pPr>
            <a:r>
              <a:rPr lang="en-US" sz="1250" i="1" dirty="0">
                <a:solidFill>
                  <a:srgbClr val="9FC4C2"/>
                </a:solidFill>
                <a:latin typeface="Calibri" pitchFamily="34" charset="0"/>
                <a:ea typeface="Calibri" pitchFamily="34" charset="-122"/>
                <a:cs typeface="Calibri" pitchFamily="34" charset="-120"/>
              </a:rPr>
              <a:t>Build the roadmap</a:t>
            </a:r>
            <a:endParaRPr lang="en-US" sz="1250" dirty="0"/>
          </a:p>
        </p:txBody>
      </p:sp>
      <p:sp>
        <p:nvSpPr>
          <p:cNvPr id="19" name="Shape 15"/>
          <p:cNvSpPr/>
          <p:nvPr/>
        </p:nvSpPr>
        <p:spPr>
          <a:xfrm>
            <a:off x="4873752" y="3822192"/>
            <a:ext cx="219456" cy="219456"/>
          </a:xfrm>
          <a:prstGeom prst="rightArrow">
            <a:avLst/>
          </a:prstGeom>
          <a:solidFill>
            <a:srgbClr val="02C39A"/>
          </a:solidFill>
          <a:ln/>
        </p:spPr>
      </p:sp>
      <p:sp>
        <p:nvSpPr>
          <p:cNvPr id="20" name="Shape 16"/>
          <p:cNvSpPr/>
          <p:nvPr/>
        </p:nvSpPr>
        <p:spPr>
          <a:xfrm>
            <a:off x="5111496" y="2331720"/>
            <a:ext cx="1965960" cy="3200400"/>
          </a:xfrm>
          <a:prstGeom prst="roundRect">
            <a:avLst>
              <a:gd name="adj" fmla="val 4651"/>
            </a:avLst>
          </a:prstGeom>
          <a:solidFill>
            <a:srgbClr val="0F3B44"/>
          </a:solidFill>
          <a:ln w="12700">
            <a:solidFill>
              <a:srgbClr val="028090"/>
            </a:solidFill>
            <a:prstDash val="solid"/>
          </a:ln>
        </p:spPr>
      </p:sp>
      <p:sp>
        <p:nvSpPr>
          <p:cNvPr id="21" name="Shape 17"/>
          <p:cNvSpPr/>
          <p:nvPr/>
        </p:nvSpPr>
        <p:spPr>
          <a:xfrm>
            <a:off x="5614416" y="2720340"/>
            <a:ext cx="960120" cy="960120"/>
          </a:xfrm>
          <a:prstGeom prst="ellipse">
            <a:avLst/>
          </a:prstGeom>
          <a:solidFill>
            <a:srgbClr val="028090"/>
          </a:solidFill>
          <a:ln/>
        </p:spPr>
      </p:sp>
      <p:pic>
        <p:nvPicPr>
          <p:cNvPr id="22" name="Image 2" descr="preencoded.png"/>
          <p:cNvPicPr>
            <a:picLocks noChangeAspect="1"/>
          </p:cNvPicPr>
          <p:nvPr/>
        </p:nvPicPr>
        <p:blipFill>
          <a:blip r:embed="rId5"/>
          <a:stretch>
            <a:fillRect/>
          </a:stretch>
        </p:blipFill>
        <p:spPr>
          <a:xfrm>
            <a:off x="5854446" y="2960370"/>
            <a:ext cx="480060" cy="480060"/>
          </a:xfrm>
          <a:prstGeom prst="rect">
            <a:avLst/>
          </a:prstGeom>
        </p:spPr>
      </p:pic>
      <p:sp>
        <p:nvSpPr>
          <p:cNvPr id="23" name="Shape 18"/>
          <p:cNvSpPr/>
          <p:nvPr/>
        </p:nvSpPr>
        <p:spPr>
          <a:xfrm>
            <a:off x="6556248" y="2395728"/>
            <a:ext cx="457200" cy="457200"/>
          </a:xfrm>
          <a:prstGeom prst="ellipse">
            <a:avLst/>
          </a:prstGeom>
          <a:solidFill>
            <a:srgbClr val="02C39A"/>
          </a:solidFill>
          <a:ln/>
        </p:spPr>
      </p:sp>
      <p:sp>
        <p:nvSpPr>
          <p:cNvPr id="24" name="Text 19"/>
          <p:cNvSpPr/>
          <p:nvPr/>
        </p:nvSpPr>
        <p:spPr>
          <a:xfrm>
            <a:off x="6556248" y="2395728"/>
            <a:ext cx="457200" cy="457200"/>
          </a:xfrm>
          <a:prstGeom prst="rect">
            <a:avLst/>
          </a:prstGeom>
          <a:noFill/>
          <a:ln/>
        </p:spPr>
        <p:txBody>
          <a:bodyPr wrap="square" lIns="0" tIns="0" rIns="0" bIns="0" rtlCol="0" anchor="ctr"/>
          <a:lstStyle/>
          <a:p>
            <a:pPr marL="0" indent="0" algn="ctr">
              <a:buNone/>
            </a:pPr>
            <a:r>
              <a:rPr lang="en-US" sz="1100" b="1" dirty="0">
                <a:solidFill>
                  <a:srgbClr val="0A2E36"/>
                </a:solidFill>
                <a:latin typeface="Cambria" pitchFamily="34" charset="0"/>
                <a:ea typeface="Cambria" pitchFamily="34" charset="-122"/>
                <a:cs typeface="Cambria" pitchFamily="34" charset="-120"/>
              </a:rPr>
              <a:t>3</a:t>
            </a:r>
            <a:endParaRPr lang="en-US" sz="1100" dirty="0"/>
          </a:p>
        </p:txBody>
      </p:sp>
      <p:sp>
        <p:nvSpPr>
          <p:cNvPr id="25" name="Text 20"/>
          <p:cNvSpPr/>
          <p:nvPr/>
        </p:nvSpPr>
        <p:spPr>
          <a:xfrm>
            <a:off x="5202936" y="3840480"/>
            <a:ext cx="1783080" cy="731520"/>
          </a:xfrm>
          <a:prstGeom prst="rect">
            <a:avLst/>
          </a:prstGeom>
          <a:noFill/>
          <a:ln/>
        </p:spPr>
        <p:txBody>
          <a:bodyPr wrap="square" rtlCol="0" anchor="t"/>
          <a:lstStyle/>
          <a:p>
            <a:pPr marL="0" indent="0" algn="ctr">
              <a:lnSpc>
                <a:spcPts val="1800"/>
              </a:lnSpc>
              <a:buNone/>
            </a:pPr>
            <a:r>
              <a:rPr lang="en-US" sz="1700" b="1" dirty="0">
                <a:solidFill>
                  <a:srgbClr val="FFFFFF"/>
                </a:solidFill>
                <a:latin typeface="Cambria" pitchFamily="34" charset="0"/>
                <a:ea typeface="Cambria" pitchFamily="34" charset="-122"/>
                <a:cs typeface="Cambria" pitchFamily="34" charset="-120"/>
              </a:rPr>
              <a:t>Execution</a:t>
            </a:r>
            <a:endParaRPr lang="en-US" sz="1700" dirty="0"/>
          </a:p>
        </p:txBody>
      </p:sp>
      <p:sp>
        <p:nvSpPr>
          <p:cNvPr id="26" name="Text 21"/>
          <p:cNvSpPr/>
          <p:nvPr/>
        </p:nvSpPr>
        <p:spPr>
          <a:xfrm>
            <a:off x="5202936" y="4709160"/>
            <a:ext cx="1783080" cy="548640"/>
          </a:xfrm>
          <a:prstGeom prst="rect">
            <a:avLst/>
          </a:prstGeom>
          <a:noFill/>
          <a:ln/>
        </p:spPr>
        <p:txBody>
          <a:bodyPr wrap="square" rtlCol="0" anchor="ctr"/>
          <a:lstStyle/>
          <a:p>
            <a:pPr marL="0" indent="0" algn="ctr">
              <a:buNone/>
            </a:pPr>
            <a:r>
              <a:rPr lang="en-US" sz="1250" i="1" dirty="0">
                <a:solidFill>
                  <a:srgbClr val="9FC4C2"/>
                </a:solidFill>
                <a:latin typeface="Calibri" pitchFamily="34" charset="0"/>
                <a:ea typeface="Calibri" pitchFamily="34" charset="-122"/>
                <a:cs typeface="Calibri" pitchFamily="34" charset="-120"/>
              </a:rPr>
              <a:t>Do the work</a:t>
            </a:r>
            <a:endParaRPr lang="en-US" sz="1250" dirty="0"/>
          </a:p>
        </p:txBody>
      </p:sp>
      <p:sp>
        <p:nvSpPr>
          <p:cNvPr id="27" name="Shape 22"/>
          <p:cNvSpPr/>
          <p:nvPr/>
        </p:nvSpPr>
        <p:spPr>
          <a:xfrm>
            <a:off x="7095744" y="3822192"/>
            <a:ext cx="219456" cy="219456"/>
          </a:xfrm>
          <a:prstGeom prst="rightArrow">
            <a:avLst/>
          </a:prstGeom>
          <a:solidFill>
            <a:srgbClr val="02C39A"/>
          </a:solidFill>
          <a:ln/>
        </p:spPr>
      </p:sp>
      <p:sp>
        <p:nvSpPr>
          <p:cNvPr id="28" name="Shape 23"/>
          <p:cNvSpPr/>
          <p:nvPr/>
        </p:nvSpPr>
        <p:spPr>
          <a:xfrm>
            <a:off x="7333488" y="2331720"/>
            <a:ext cx="1965960" cy="3200400"/>
          </a:xfrm>
          <a:prstGeom prst="roundRect">
            <a:avLst>
              <a:gd name="adj" fmla="val 4651"/>
            </a:avLst>
          </a:prstGeom>
          <a:solidFill>
            <a:srgbClr val="0F3B44"/>
          </a:solidFill>
          <a:ln w="12700">
            <a:solidFill>
              <a:srgbClr val="028090"/>
            </a:solidFill>
            <a:prstDash val="solid"/>
          </a:ln>
        </p:spPr>
      </p:sp>
      <p:sp>
        <p:nvSpPr>
          <p:cNvPr id="29" name="Shape 24"/>
          <p:cNvSpPr/>
          <p:nvPr/>
        </p:nvSpPr>
        <p:spPr>
          <a:xfrm>
            <a:off x="7836408" y="2720340"/>
            <a:ext cx="960120" cy="960120"/>
          </a:xfrm>
          <a:prstGeom prst="ellipse">
            <a:avLst/>
          </a:prstGeom>
          <a:solidFill>
            <a:srgbClr val="00A896"/>
          </a:solidFill>
          <a:ln/>
        </p:spPr>
      </p:sp>
      <p:pic>
        <p:nvPicPr>
          <p:cNvPr id="30" name="Image 3" descr="preencoded.png"/>
          <p:cNvPicPr>
            <a:picLocks noChangeAspect="1"/>
          </p:cNvPicPr>
          <p:nvPr/>
        </p:nvPicPr>
        <p:blipFill>
          <a:blip r:embed="rId6"/>
          <a:stretch>
            <a:fillRect/>
          </a:stretch>
        </p:blipFill>
        <p:spPr>
          <a:xfrm>
            <a:off x="8076438" y="2960370"/>
            <a:ext cx="480060" cy="480060"/>
          </a:xfrm>
          <a:prstGeom prst="rect">
            <a:avLst/>
          </a:prstGeom>
        </p:spPr>
      </p:pic>
      <p:sp>
        <p:nvSpPr>
          <p:cNvPr id="31" name="Shape 25"/>
          <p:cNvSpPr/>
          <p:nvPr/>
        </p:nvSpPr>
        <p:spPr>
          <a:xfrm>
            <a:off x="8778240" y="2395728"/>
            <a:ext cx="457200" cy="457200"/>
          </a:xfrm>
          <a:prstGeom prst="ellipse">
            <a:avLst/>
          </a:prstGeom>
          <a:solidFill>
            <a:srgbClr val="02C39A"/>
          </a:solidFill>
          <a:ln/>
        </p:spPr>
      </p:sp>
      <p:sp>
        <p:nvSpPr>
          <p:cNvPr id="32" name="Text 26"/>
          <p:cNvSpPr/>
          <p:nvPr/>
        </p:nvSpPr>
        <p:spPr>
          <a:xfrm>
            <a:off x="8778240" y="2395728"/>
            <a:ext cx="457200" cy="457200"/>
          </a:xfrm>
          <a:prstGeom prst="rect">
            <a:avLst/>
          </a:prstGeom>
          <a:noFill/>
          <a:ln/>
        </p:spPr>
        <p:txBody>
          <a:bodyPr wrap="square" lIns="0" tIns="0" rIns="0" bIns="0" rtlCol="0" anchor="ctr"/>
          <a:lstStyle/>
          <a:p>
            <a:pPr marL="0" indent="0" algn="ctr">
              <a:buNone/>
            </a:pPr>
            <a:r>
              <a:rPr lang="en-US" sz="1100" b="1" dirty="0">
                <a:solidFill>
                  <a:srgbClr val="0A2E36"/>
                </a:solidFill>
                <a:latin typeface="Cambria" pitchFamily="34" charset="0"/>
                <a:ea typeface="Cambria" pitchFamily="34" charset="-122"/>
                <a:cs typeface="Cambria" pitchFamily="34" charset="-120"/>
              </a:rPr>
              <a:t>4</a:t>
            </a:r>
            <a:endParaRPr lang="en-US" sz="1100" dirty="0"/>
          </a:p>
        </p:txBody>
      </p:sp>
      <p:sp>
        <p:nvSpPr>
          <p:cNvPr id="33" name="Text 27"/>
          <p:cNvSpPr/>
          <p:nvPr/>
        </p:nvSpPr>
        <p:spPr>
          <a:xfrm>
            <a:off x="7424928" y="3840480"/>
            <a:ext cx="1783080" cy="731520"/>
          </a:xfrm>
          <a:prstGeom prst="rect">
            <a:avLst/>
          </a:prstGeom>
          <a:noFill/>
          <a:ln/>
        </p:spPr>
        <p:txBody>
          <a:bodyPr wrap="square" rtlCol="0" anchor="t"/>
          <a:lstStyle/>
          <a:p>
            <a:pPr marL="0" indent="0" algn="ctr">
              <a:lnSpc>
                <a:spcPts val="1800"/>
              </a:lnSpc>
              <a:buNone/>
            </a:pPr>
            <a:r>
              <a:rPr lang="en-US" sz="1700" b="1" dirty="0">
                <a:solidFill>
                  <a:srgbClr val="FFFFFF"/>
                </a:solidFill>
                <a:latin typeface="Cambria" pitchFamily="34" charset="0"/>
                <a:ea typeface="Cambria" pitchFamily="34" charset="-122"/>
                <a:cs typeface="Cambria" pitchFamily="34" charset="-120"/>
              </a:rPr>
              <a:t>Monitoring</a:t>
            </a:r>
            <a:endParaRPr lang="en-US" sz="1700" dirty="0"/>
          </a:p>
          <a:p>
            <a:pPr marL="0" indent="0" algn="ctr">
              <a:lnSpc>
                <a:spcPts val="1800"/>
              </a:lnSpc>
              <a:buNone/>
            </a:pPr>
            <a:r>
              <a:rPr lang="en-US" sz="1700" b="1" dirty="0">
                <a:solidFill>
                  <a:srgbClr val="FFFFFF"/>
                </a:solidFill>
                <a:latin typeface="Cambria" pitchFamily="34" charset="0"/>
                <a:ea typeface="Cambria" pitchFamily="34" charset="-122"/>
                <a:cs typeface="Cambria" pitchFamily="34" charset="-120"/>
              </a:rPr>
              <a:t>&amp; Controlling</a:t>
            </a:r>
            <a:endParaRPr lang="en-US" sz="1700" dirty="0"/>
          </a:p>
        </p:txBody>
      </p:sp>
      <p:sp>
        <p:nvSpPr>
          <p:cNvPr id="34" name="Text 28"/>
          <p:cNvSpPr/>
          <p:nvPr/>
        </p:nvSpPr>
        <p:spPr>
          <a:xfrm>
            <a:off x="7424928" y="4709160"/>
            <a:ext cx="1783080" cy="548640"/>
          </a:xfrm>
          <a:prstGeom prst="rect">
            <a:avLst/>
          </a:prstGeom>
          <a:noFill/>
          <a:ln/>
        </p:spPr>
        <p:txBody>
          <a:bodyPr wrap="square" rtlCol="0" anchor="ctr"/>
          <a:lstStyle/>
          <a:p>
            <a:pPr marL="0" indent="0" algn="ctr">
              <a:buNone/>
            </a:pPr>
            <a:r>
              <a:rPr lang="en-US" sz="1250" i="1" dirty="0">
                <a:solidFill>
                  <a:srgbClr val="9FC4C2"/>
                </a:solidFill>
                <a:latin typeface="Calibri" pitchFamily="34" charset="0"/>
                <a:ea typeface="Calibri" pitchFamily="34" charset="-122"/>
                <a:cs typeface="Calibri" pitchFamily="34" charset="-120"/>
              </a:rPr>
              <a:t>Keep on track</a:t>
            </a:r>
            <a:endParaRPr lang="en-US" sz="1250" dirty="0"/>
          </a:p>
        </p:txBody>
      </p:sp>
      <p:sp>
        <p:nvSpPr>
          <p:cNvPr id="35" name="Shape 29"/>
          <p:cNvSpPr/>
          <p:nvPr/>
        </p:nvSpPr>
        <p:spPr>
          <a:xfrm>
            <a:off x="9317736" y="3822192"/>
            <a:ext cx="219456" cy="219456"/>
          </a:xfrm>
          <a:prstGeom prst="rightArrow">
            <a:avLst/>
          </a:prstGeom>
          <a:solidFill>
            <a:srgbClr val="02C39A"/>
          </a:solidFill>
          <a:ln/>
        </p:spPr>
      </p:sp>
      <p:sp>
        <p:nvSpPr>
          <p:cNvPr id="36" name="Shape 30"/>
          <p:cNvSpPr/>
          <p:nvPr/>
        </p:nvSpPr>
        <p:spPr>
          <a:xfrm>
            <a:off x="9555480" y="2331720"/>
            <a:ext cx="1965960" cy="3200400"/>
          </a:xfrm>
          <a:prstGeom prst="roundRect">
            <a:avLst>
              <a:gd name="adj" fmla="val 4651"/>
            </a:avLst>
          </a:prstGeom>
          <a:solidFill>
            <a:srgbClr val="0F3B44"/>
          </a:solidFill>
          <a:ln w="12700">
            <a:solidFill>
              <a:srgbClr val="028090"/>
            </a:solidFill>
            <a:prstDash val="solid"/>
          </a:ln>
        </p:spPr>
      </p:sp>
      <p:sp>
        <p:nvSpPr>
          <p:cNvPr id="37" name="Shape 31"/>
          <p:cNvSpPr/>
          <p:nvPr/>
        </p:nvSpPr>
        <p:spPr>
          <a:xfrm>
            <a:off x="10058400" y="2720340"/>
            <a:ext cx="960120" cy="960120"/>
          </a:xfrm>
          <a:prstGeom prst="ellipse">
            <a:avLst/>
          </a:prstGeom>
          <a:solidFill>
            <a:srgbClr val="028090"/>
          </a:solidFill>
          <a:ln/>
        </p:spPr>
      </p:sp>
      <p:pic>
        <p:nvPicPr>
          <p:cNvPr id="38" name="Image 4" descr="preencoded.png"/>
          <p:cNvPicPr>
            <a:picLocks noChangeAspect="1"/>
          </p:cNvPicPr>
          <p:nvPr/>
        </p:nvPicPr>
        <p:blipFill>
          <a:blip r:embed="rId7"/>
          <a:stretch>
            <a:fillRect/>
          </a:stretch>
        </p:blipFill>
        <p:spPr>
          <a:xfrm>
            <a:off x="10298430" y="2960370"/>
            <a:ext cx="480060" cy="480060"/>
          </a:xfrm>
          <a:prstGeom prst="rect">
            <a:avLst/>
          </a:prstGeom>
        </p:spPr>
      </p:pic>
      <p:sp>
        <p:nvSpPr>
          <p:cNvPr id="39" name="Shape 32"/>
          <p:cNvSpPr/>
          <p:nvPr/>
        </p:nvSpPr>
        <p:spPr>
          <a:xfrm>
            <a:off x="11000232" y="2395728"/>
            <a:ext cx="457200" cy="457200"/>
          </a:xfrm>
          <a:prstGeom prst="ellipse">
            <a:avLst/>
          </a:prstGeom>
          <a:solidFill>
            <a:srgbClr val="02C39A"/>
          </a:solidFill>
          <a:ln/>
        </p:spPr>
      </p:sp>
      <p:sp>
        <p:nvSpPr>
          <p:cNvPr id="40" name="Text 33"/>
          <p:cNvSpPr/>
          <p:nvPr/>
        </p:nvSpPr>
        <p:spPr>
          <a:xfrm>
            <a:off x="11000232" y="2395728"/>
            <a:ext cx="457200" cy="457200"/>
          </a:xfrm>
          <a:prstGeom prst="rect">
            <a:avLst/>
          </a:prstGeom>
          <a:noFill/>
          <a:ln/>
        </p:spPr>
        <p:txBody>
          <a:bodyPr wrap="square" lIns="0" tIns="0" rIns="0" bIns="0" rtlCol="0" anchor="ctr"/>
          <a:lstStyle/>
          <a:p>
            <a:pPr marL="0" indent="0" algn="ctr">
              <a:buNone/>
            </a:pPr>
            <a:r>
              <a:rPr lang="en-US" sz="1100" b="1" dirty="0">
                <a:solidFill>
                  <a:srgbClr val="0A2E36"/>
                </a:solidFill>
                <a:latin typeface="Cambria" pitchFamily="34" charset="0"/>
                <a:ea typeface="Cambria" pitchFamily="34" charset="-122"/>
                <a:cs typeface="Cambria" pitchFamily="34" charset="-120"/>
              </a:rPr>
              <a:t>5</a:t>
            </a:r>
            <a:endParaRPr lang="en-US" sz="1100" dirty="0"/>
          </a:p>
        </p:txBody>
      </p:sp>
      <p:sp>
        <p:nvSpPr>
          <p:cNvPr id="41" name="Text 34"/>
          <p:cNvSpPr/>
          <p:nvPr/>
        </p:nvSpPr>
        <p:spPr>
          <a:xfrm>
            <a:off x="9646920" y="3840480"/>
            <a:ext cx="1783080" cy="731520"/>
          </a:xfrm>
          <a:prstGeom prst="rect">
            <a:avLst/>
          </a:prstGeom>
          <a:noFill/>
          <a:ln/>
        </p:spPr>
        <p:txBody>
          <a:bodyPr wrap="square" rtlCol="0" anchor="t"/>
          <a:lstStyle/>
          <a:p>
            <a:pPr marL="0" indent="0" algn="ctr">
              <a:lnSpc>
                <a:spcPts val="1800"/>
              </a:lnSpc>
              <a:buNone/>
            </a:pPr>
            <a:r>
              <a:rPr lang="en-US" sz="1700" b="1" dirty="0">
                <a:solidFill>
                  <a:srgbClr val="FFFFFF"/>
                </a:solidFill>
                <a:latin typeface="Cambria" pitchFamily="34" charset="0"/>
                <a:ea typeface="Cambria" pitchFamily="34" charset="-122"/>
                <a:cs typeface="Cambria" pitchFamily="34" charset="-120"/>
              </a:rPr>
              <a:t>Closing</a:t>
            </a:r>
            <a:endParaRPr lang="en-US" sz="1700" dirty="0"/>
          </a:p>
        </p:txBody>
      </p:sp>
      <p:sp>
        <p:nvSpPr>
          <p:cNvPr id="42" name="Text 35"/>
          <p:cNvSpPr/>
          <p:nvPr/>
        </p:nvSpPr>
        <p:spPr>
          <a:xfrm>
            <a:off x="9646920" y="4709160"/>
            <a:ext cx="1783080" cy="548640"/>
          </a:xfrm>
          <a:prstGeom prst="rect">
            <a:avLst/>
          </a:prstGeom>
          <a:noFill/>
          <a:ln/>
        </p:spPr>
        <p:txBody>
          <a:bodyPr wrap="square" rtlCol="0" anchor="ctr"/>
          <a:lstStyle/>
          <a:p>
            <a:pPr marL="0" indent="0" algn="ctr">
              <a:buNone/>
            </a:pPr>
            <a:r>
              <a:rPr lang="en-US" sz="1250" i="1" dirty="0">
                <a:solidFill>
                  <a:srgbClr val="9FC4C2"/>
                </a:solidFill>
                <a:latin typeface="Calibri" pitchFamily="34" charset="0"/>
                <a:ea typeface="Calibri" pitchFamily="34" charset="-122"/>
                <a:cs typeface="Calibri" pitchFamily="34" charset="-120"/>
              </a:rPr>
              <a:t>Complete &amp; learn</a:t>
            </a:r>
            <a:endParaRPr lang="en-US" sz="1250" dirty="0"/>
          </a:p>
        </p:txBody>
      </p:sp>
      <p:sp>
        <p:nvSpPr>
          <p:cNvPr id="43" name="Text 36"/>
          <p:cNvSpPr/>
          <p:nvPr/>
        </p:nvSpPr>
        <p:spPr>
          <a:xfrm>
            <a:off x="640080" y="5943600"/>
            <a:ext cx="10972800" cy="365760"/>
          </a:xfrm>
          <a:prstGeom prst="rect">
            <a:avLst/>
          </a:prstGeom>
          <a:noFill/>
          <a:ln/>
        </p:spPr>
        <p:txBody>
          <a:bodyPr wrap="square" rtlCol="0" anchor="ctr"/>
          <a:lstStyle/>
          <a:p>
            <a:pPr marL="0" indent="0" algn="ctr">
              <a:buNone/>
            </a:pPr>
            <a:r>
              <a:rPr lang="en-US" sz="1300" i="1" dirty="0">
                <a:solidFill>
                  <a:srgbClr val="8FB7B5"/>
                </a:solidFill>
                <a:latin typeface="Calibri" pitchFamily="34" charset="0"/>
                <a:ea typeface="Calibri" pitchFamily="34" charset="-122"/>
                <a:cs typeface="Calibri" pitchFamily="34" charset="-120"/>
              </a:rPr>
              <a:t>Phases 3 and 4 run in parallel — the project is monitored and controlled while it is being executed.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0A2E36"/>
          </a:solidFill>
          <a:ln/>
        </p:spPr>
      </p:sp>
      <p:sp>
        <p:nvSpPr>
          <p:cNvPr id="4" name="Text 2"/>
          <p:cNvSpPr/>
          <p:nvPr/>
        </p:nvSpPr>
        <p:spPr>
          <a:xfrm>
            <a:off x="502920" y="685800"/>
            <a:ext cx="2743200" cy="365760"/>
          </a:xfrm>
          <a:prstGeom prst="rect">
            <a:avLst/>
          </a:prstGeom>
          <a:noFill/>
          <a:ln/>
        </p:spPr>
        <p:txBody>
          <a:bodyPr wrap="square" rtlCol="0" anchor="ctr"/>
          <a:lstStyle/>
          <a:p>
            <a:pPr marL="0" indent="0">
              <a:buNone/>
            </a:pPr>
            <a:r>
              <a:rPr lang="en-US" sz="1400" b="1" kern="0" spc="400" dirty="0">
                <a:solidFill>
                  <a:srgbClr val="00A896"/>
                </a:solidFill>
                <a:latin typeface="Calibri" pitchFamily="34" charset="0"/>
                <a:ea typeface="Calibri" pitchFamily="34" charset="-122"/>
                <a:cs typeface="Calibri" pitchFamily="34" charset="-120"/>
              </a:rPr>
              <a:t>PHASE</a:t>
            </a:r>
            <a:endParaRPr lang="en-US" sz="1400" dirty="0"/>
          </a:p>
        </p:txBody>
      </p:sp>
      <p:sp>
        <p:nvSpPr>
          <p:cNvPr id="5" name="Text 3"/>
          <p:cNvSpPr/>
          <p:nvPr/>
        </p:nvSpPr>
        <p:spPr>
          <a:xfrm>
            <a:off x="411480" y="868680"/>
            <a:ext cx="3017520" cy="1828800"/>
          </a:xfrm>
          <a:prstGeom prst="rect">
            <a:avLst/>
          </a:prstGeom>
          <a:noFill/>
          <a:ln/>
        </p:spPr>
        <p:txBody>
          <a:bodyPr wrap="square" rtlCol="0" anchor="ctr"/>
          <a:lstStyle/>
          <a:p>
            <a:pPr marL="0" indent="0">
              <a:buNone/>
            </a:pPr>
            <a:r>
              <a:rPr lang="en-US" sz="12000" b="1" dirty="0">
                <a:solidFill>
                  <a:srgbClr val="FFFFFF"/>
                </a:solidFill>
                <a:latin typeface="Cambria" pitchFamily="34" charset="0"/>
                <a:ea typeface="Cambria" pitchFamily="34" charset="-122"/>
                <a:cs typeface="Cambria" pitchFamily="34" charset="-120"/>
              </a:rPr>
              <a:t>1</a:t>
            </a:r>
            <a:endParaRPr lang="en-US" sz="12000" dirty="0"/>
          </a:p>
        </p:txBody>
      </p:sp>
      <p:sp>
        <p:nvSpPr>
          <p:cNvPr id="6" name="Shape 4"/>
          <p:cNvSpPr/>
          <p:nvPr/>
        </p:nvSpPr>
        <p:spPr>
          <a:xfrm>
            <a:off x="525780" y="2903220"/>
            <a:ext cx="1051560" cy="1051560"/>
          </a:xfrm>
          <a:prstGeom prst="ellipse">
            <a:avLst/>
          </a:prstGeom>
          <a:solidFill>
            <a:srgbClr val="02C39A"/>
          </a:solidFill>
          <a:ln/>
        </p:spPr>
      </p:sp>
      <p:pic>
        <p:nvPicPr>
          <p:cNvPr id="7" name="Image 0" descr="preencoded.png"/>
          <p:cNvPicPr>
            <a:picLocks noChangeAspect="1"/>
          </p:cNvPicPr>
          <p:nvPr/>
        </p:nvPicPr>
        <p:blipFill>
          <a:blip r:embed="rId3"/>
          <a:stretch>
            <a:fillRect/>
          </a:stretch>
        </p:blipFill>
        <p:spPr>
          <a:xfrm>
            <a:off x="788670" y="3166110"/>
            <a:ext cx="525780" cy="525780"/>
          </a:xfrm>
          <a:prstGeom prst="rect">
            <a:avLst/>
          </a:prstGeom>
        </p:spPr>
      </p:pic>
      <p:sp>
        <p:nvSpPr>
          <p:cNvPr id="8" name="Text 5"/>
          <p:cNvSpPr/>
          <p:nvPr/>
        </p:nvSpPr>
        <p:spPr>
          <a:xfrm>
            <a:off x="457200" y="4114800"/>
            <a:ext cx="3017520" cy="914400"/>
          </a:xfrm>
          <a:prstGeom prst="rect">
            <a:avLst/>
          </a:prstGeom>
          <a:noFill/>
          <a:ln/>
        </p:spPr>
        <p:txBody>
          <a:bodyPr wrap="square" rtlCol="0" anchor="ctr"/>
          <a:lstStyle/>
          <a:p>
            <a:pPr marL="0" indent="0">
              <a:lnSpc>
                <a:spcPts val="2700"/>
              </a:lnSpc>
              <a:buNone/>
            </a:pPr>
            <a:r>
              <a:rPr lang="en-US" sz="2600" b="1" dirty="0">
                <a:solidFill>
                  <a:srgbClr val="FFFFFF"/>
                </a:solidFill>
                <a:latin typeface="Cambria" pitchFamily="34" charset="0"/>
                <a:ea typeface="Cambria" pitchFamily="34" charset="-122"/>
                <a:cs typeface="Cambria" pitchFamily="34" charset="-120"/>
              </a:rPr>
              <a:t>Initiation</a:t>
            </a:r>
            <a:endParaRPr lang="en-US" sz="2600" dirty="0"/>
          </a:p>
        </p:txBody>
      </p:sp>
      <p:sp>
        <p:nvSpPr>
          <p:cNvPr id="9" name="Text 6"/>
          <p:cNvSpPr/>
          <p:nvPr/>
        </p:nvSpPr>
        <p:spPr>
          <a:xfrm>
            <a:off x="502920" y="5166360"/>
            <a:ext cx="2926080" cy="1097280"/>
          </a:xfrm>
          <a:prstGeom prst="rect">
            <a:avLst/>
          </a:prstGeom>
          <a:noFill/>
          <a:ln/>
        </p:spPr>
        <p:txBody>
          <a:bodyPr wrap="square" rtlCol="0" anchor="ctr"/>
          <a:lstStyle/>
          <a:p>
            <a:pPr marL="0" indent="0">
              <a:lnSpc>
                <a:spcPts val="1900"/>
              </a:lnSpc>
              <a:buNone/>
            </a:pPr>
            <a:r>
              <a:rPr lang="en-US" sz="1400" i="1" dirty="0">
                <a:solidFill>
                  <a:srgbClr val="B9D6D4"/>
                </a:solidFill>
                <a:latin typeface="Calibri" pitchFamily="34" charset="0"/>
                <a:ea typeface="Calibri" pitchFamily="34" charset="-122"/>
                <a:cs typeface="Calibri" pitchFamily="34" charset="-120"/>
              </a:rPr>
              <a:t>Define the project at a high level and secure formal approval to proceed.</a:t>
            </a:r>
            <a:endParaRPr lang="en-US" sz="1400" dirty="0"/>
          </a:p>
        </p:txBody>
      </p:sp>
      <p:sp>
        <p:nvSpPr>
          <p:cNvPr id="10" name="Shape 7"/>
          <p:cNvSpPr/>
          <p:nvPr/>
        </p:nvSpPr>
        <p:spPr>
          <a:xfrm>
            <a:off x="4160520" y="594360"/>
            <a:ext cx="3794760" cy="2743200"/>
          </a:xfrm>
          <a:prstGeom prst="roundRect">
            <a:avLst>
              <a:gd name="adj" fmla="val 3333"/>
            </a:avLst>
          </a:prstGeom>
          <a:solidFill>
            <a:srgbClr val="EAF4F3"/>
          </a:solidFill>
          <a:ln w="12700">
            <a:solidFill>
              <a:srgbClr val="D6E7E5"/>
            </a:solidFill>
            <a:prstDash val="solid"/>
          </a:ln>
        </p:spPr>
      </p:sp>
      <p:sp>
        <p:nvSpPr>
          <p:cNvPr id="11" name="Shape 8"/>
          <p:cNvSpPr/>
          <p:nvPr/>
        </p:nvSpPr>
        <p:spPr>
          <a:xfrm>
            <a:off x="4416552" y="868680"/>
            <a:ext cx="548640" cy="548640"/>
          </a:xfrm>
          <a:prstGeom prst="ellipse">
            <a:avLst/>
          </a:prstGeom>
          <a:solidFill>
            <a:srgbClr val="028090"/>
          </a:solidFill>
          <a:ln/>
        </p:spPr>
      </p:sp>
      <p:pic>
        <p:nvPicPr>
          <p:cNvPr id="12" name="Image 1" descr="preencoded.png"/>
          <p:cNvPicPr>
            <a:picLocks noChangeAspect="1"/>
          </p:cNvPicPr>
          <p:nvPr/>
        </p:nvPicPr>
        <p:blipFill>
          <a:blip r:embed="rId4"/>
          <a:stretch>
            <a:fillRect/>
          </a:stretch>
        </p:blipFill>
        <p:spPr>
          <a:xfrm>
            <a:off x="4562856" y="1014984"/>
            <a:ext cx="256032" cy="256032"/>
          </a:xfrm>
          <a:prstGeom prst="rect">
            <a:avLst/>
          </a:prstGeom>
        </p:spPr>
      </p:pic>
      <p:sp>
        <p:nvSpPr>
          <p:cNvPr id="13" name="Text 9"/>
          <p:cNvSpPr/>
          <p:nvPr/>
        </p:nvSpPr>
        <p:spPr>
          <a:xfrm>
            <a:off x="5093208" y="850392"/>
            <a:ext cx="2697480" cy="603504"/>
          </a:xfrm>
          <a:prstGeom prst="rect">
            <a:avLst/>
          </a:prstGeom>
          <a:noFill/>
          <a:ln/>
        </p:spPr>
        <p:txBody>
          <a:bodyPr wrap="square" lIns="0" tIns="0" rIns="0" bIns="0" rtlCol="0" anchor="ctr"/>
          <a:lstStyle/>
          <a:p>
            <a:pPr marL="0" indent="0">
              <a:buNone/>
            </a:pPr>
            <a:r>
              <a:rPr lang="en-US" sz="1550" b="1" dirty="0">
                <a:solidFill>
                  <a:srgbClr val="0A2E36"/>
                </a:solidFill>
                <a:latin typeface="Calibri" pitchFamily="34" charset="0"/>
                <a:ea typeface="Calibri" pitchFamily="34" charset="-122"/>
                <a:cs typeface="Calibri" pitchFamily="34" charset="-120"/>
              </a:rPr>
              <a:t>Purpose</a:t>
            </a:r>
            <a:endParaRPr lang="en-US" sz="1550" dirty="0"/>
          </a:p>
        </p:txBody>
      </p:sp>
      <p:sp>
        <p:nvSpPr>
          <p:cNvPr id="14" name="Text 10"/>
          <p:cNvSpPr/>
          <p:nvPr/>
        </p:nvSpPr>
        <p:spPr>
          <a:xfrm>
            <a:off x="4453128" y="1554480"/>
            <a:ext cx="3246120" cy="1600200"/>
          </a:xfrm>
          <a:prstGeom prst="rect">
            <a:avLst/>
          </a:prstGeom>
          <a:noFill/>
          <a:ln/>
        </p:spPr>
        <p:txBody>
          <a:bodyPr wrap="square" rtlCol="0" anchor="t"/>
          <a:lstStyle/>
          <a:p>
            <a:pPr marL="0" indent="0">
              <a:lnSpc>
                <a:spcPts val="1900"/>
              </a:lnSpc>
              <a:buNone/>
            </a:pPr>
            <a:r>
              <a:rPr lang="en-US" sz="1350" dirty="0">
                <a:solidFill>
                  <a:srgbClr val="1B2B2E"/>
                </a:solidFill>
                <a:latin typeface="Calibri" pitchFamily="34" charset="0"/>
                <a:ea typeface="Calibri" pitchFamily="34" charset="-122"/>
                <a:cs typeface="Calibri" pitchFamily="34" charset="-120"/>
              </a:rPr>
              <a:t>Establish why the project exists and whether it is worth </a:t>
            </a:r>
            <a:r>
              <a:rPr lang="en-US" sz="1350" dirty="0" smtClean="0">
                <a:solidFill>
                  <a:srgbClr val="1B2B2E"/>
                </a:solidFill>
                <a:latin typeface="Calibri" pitchFamily="34" charset="0"/>
                <a:ea typeface="Calibri" pitchFamily="34" charset="-122"/>
                <a:cs typeface="Calibri" pitchFamily="34" charset="-120"/>
              </a:rPr>
              <a:t>pursuing (ASHA, </a:t>
            </a:r>
            <a:r>
              <a:rPr lang="en-US" sz="1350" dirty="0" err="1" smtClean="0">
                <a:solidFill>
                  <a:srgbClr val="1B2B2E"/>
                </a:solidFill>
                <a:latin typeface="Calibri" pitchFamily="34" charset="0"/>
                <a:ea typeface="Calibri" pitchFamily="34" charset="-122"/>
                <a:cs typeface="Calibri" pitchFamily="34" charset="-120"/>
              </a:rPr>
              <a:t>n.d</a:t>
            </a:r>
            <a:r>
              <a:rPr lang="en-US" sz="1350" dirty="0" smtClean="0">
                <a:solidFill>
                  <a:srgbClr val="1B2B2E"/>
                </a:solidFill>
                <a:latin typeface="Calibri" pitchFamily="34" charset="0"/>
                <a:ea typeface="Calibri" pitchFamily="34" charset="-122"/>
                <a:cs typeface="Calibri" pitchFamily="34" charset="-120"/>
              </a:rPr>
              <a:t>)</a:t>
            </a:r>
            <a:endParaRPr lang="en-US" sz="1350" dirty="0"/>
          </a:p>
        </p:txBody>
      </p:sp>
      <p:sp>
        <p:nvSpPr>
          <p:cNvPr id="15" name="Shape 11"/>
          <p:cNvSpPr/>
          <p:nvPr/>
        </p:nvSpPr>
        <p:spPr>
          <a:xfrm>
            <a:off x="8275320" y="594360"/>
            <a:ext cx="3794760" cy="2743200"/>
          </a:xfrm>
          <a:prstGeom prst="roundRect">
            <a:avLst>
              <a:gd name="adj" fmla="val 3333"/>
            </a:avLst>
          </a:prstGeom>
          <a:solidFill>
            <a:srgbClr val="F4F9F8"/>
          </a:solidFill>
          <a:ln w="12700">
            <a:solidFill>
              <a:srgbClr val="D6E7E5"/>
            </a:solidFill>
            <a:prstDash val="solid"/>
          </a:ln>
        </p:spPr>
      </p:sp>
      <p:sp>
        <p:nvSpPr>
          <p:cNvPr id="16" name="Shape 12"/>
          <p:cNvSpPr/>
          <p:nvPr/>
        </p:nvSpPr>
        <p:spPr>
          <a:xfrm>
            <a:off x="8531352" y="868680"/>
            <a:ext cx="548640" cy="548640"/>
          </a:xfrm>
          <a:prstGeom prst="ellipse">
            <a:avLst/>
          </a:prstGeom>
          <a:solidFill>
            <a:srgbClr val="00A896"/>
          </a:solidFill>
          <a:ln/>
        </p:spPr>
      </p:sp>
      <p:pic>
        <p:nvPicPr>
          <p:cNvPr id="17" name="Image 2" descr="preencoded.png"/>
          <p:cNvPicPr>
            <a:picLocks noChangeAspect="1"/>
          </p:cNvPicPr>
          <p:nvPr/>
        </p:nvPicPr>
        <p:blipFill>
          <a:blip r:embed="rId5"/>
          <a:stretch>
            <a:fillRect/>
          </a:stretch>
        </p:blipFill>
        <p:spPr>
          <a:xfrm>
            <a:off x="8677656" y="1014984"/>
            <a:ext cx="256032" cy="256032"/>
          </a:xfrm>
          <a:prstGeom prst="rect">
            <a:avLst/>
          </a:prstGeom>
        </p:spPr>
      </p:pic>
      <p:sp>
        <p:nvSpPr>
          <p:cNvPr id="18" name="Text 13"/>
          <p:cNvSpPr/>
          <p:nvPr/>
        </p:nvSpPr>
        <p:spPr>
          <a:xfrm>
            <a:off x="9208008" y="850392"/>
            <a:ext cx="2697480" cy="603504"/>
          </a:xfrm>
          <a:prstGeom prst="rect">
            <a:avLst/>
          </a:prstGeom>
          <a:noFill/>
          <a:ln/>
        </p:spPr>
        <p:txBody>
          <a:bodyPr wrap="square" lIns="0" tIns="0" rIns="0" bIns="0" rtlCol="0" anchor="ctr"/>
          <a:lstStyle/>
          <a:p>
            <a:pPr marL="0" indent="0">
              <a:buNone/>
            </a:pPr>
            <a:r>
              <a:rPr lang="en-US" sz="1550" b="1" dirty="0">
                <a:solidFill>
                  <a:srgbClr val="0A2E36"/>
                </a:solidFill>
                <a:latin typeface="Calibri" pitchFamily="34" charset="0"/>
                <a:ea typeface="Calibri" pitchFamily="34" charset="-122"/>
                <a:cs typeface="Calibri" pitchFamily="34" charset="-120"/>
              </a:rPr>
              <a:t>Key Tasks</a:t>
            </a:r>
            <a:endParaRPr lang="en-US" sz="1550" dirty="0"/>
          </a:p>
        </p:txBody>
      </p:sp>
      <p:sp>
        <p:nvSpPr>
          <p:cNvPr id="19" name="Text 14"/>
          <p:cNvSpPr/>
          <p:nvPr/>
        </p:nvSpPr>
        <p:spPr>
          <a:xfrm>
            <a:off x="8567928" y="1554480"/>
            <a:ext cx="3246120" cy="1600200"/>
          </a:xfrm>
          <a:prstGeom prst="rect">
            <a:avLst/>
          </a:prstGeom>
          <a:noFill/>
          <a:ln/>
        </p:spPr>
        <p:txBody>
          <a:bodyPr wrap="square" rtlCol="0" anchor="t"/>
          <a:lstStyle/>
          <a:p>
            <a:pPr marL="152400" indent="-152400">
              <a:lnSpc>
                <a:spcPts val="1700"/>
              </a:lnSpc>
              <a:spcAft>
                <a:spcPts val="600"/>
              </a:spcAft>
              <a:buSzPct val="100000"/>
              <a:buChar char="•"/>
            </a:pPr>
            <a:r>
              <a:rPr lang="en-US" sz="1300" dirty="0">
                <a:solidFill>
                  <a:srgbClr val="1B2B2E"/>
                </a:solidFill>
                <a:latin typeface="Calibri" pitchFamily="34" charset="0"/>
                <a:ea typeface="Calibri" pitchFamily="34" charset="-122"/>
                <a:cs typeface="Calibri" pitchFamily="34" charset="-120"/>
              </a:rPr>
              <a:t>Develop the business case</a:t>
            </a:r>
            <a:endParaRPr lang="en-US" sz="1300" dirty="0"/>
          </a:p>
          <a:p>
            <a:pPr marL="152400" indent="-152400">
              <a:lnSpc>
                <a:spcPts val="1700"/>
              </a:lnSpc>
              <a:spcAft>
                <a:spcPts val="600"/>
              </a:spcAft>
              <a:buSzPct val="100000"/>
              <a:buChar char="•"/>
            </a:pPr>
            <a:r>
              <a:rPr lang="en-US" sz="1300" dirty="0">
                <a:solidFill>
                  <a:srgbClr val="1B2B2E"/>
                </a:solidFill>
                <a:latin typeface="Calibri" pitchFamily="34" charset="0"/>
                <a:ea typeface="Calibri" pitchFamily="34" charset="-122"/>
                <a:cs typeface="Calibri" pitchFamily="34" charset="-120"/>
              </a:rPr>
              <a:t>Draft the project charter</a:t>
            </a:r>
            <a:endParaRPr lang="en-US" sz="1300" dirty="0"/>
          </a:p>
          <a:p>
            <a:pPr marL="152400" indent="-152400">
              <a:lnSpc>
                <a:spcPts val="1700"/>
              </a:lnSpc>
              <a:spcAft>
                <a:spcPts val="600"/>
              </a:spcAft>
              <a:buSzPct val="100000"/>
              <a:buChar char="•"/>
            </a:pPr>
            <a:r>
              <a:rPr lang="en-US" sz="1300" dirty="0">
                <a:solidFill>
                  <a:srgbClr val="1B2B2E"/>
                </a:solidFill>
                <a:latin typeface="Calibri" pitchFamily="34" charset="0"/>
                <a:ea typeface="Calibri" pitchFamily="34" charset="-122"/>
                <a:cs typeface="Calibri" pitchFamily="34" charset="-120"/>
              </a:rPr>
              <a:t>Identify </a:t>
            </a:r>
            <a:r>
              <a:rPr lang="en-US" sz="1300" dirty="0" smtClean="0">
                <a:solidFill>
                  <a:srgbClr val="1B2B2E"/>
                </a:solidFill>
                <a:latin typeface="Calibri" pitchFamily="34" charset="0"/>
                <a:ea typeface="Calibri" pitchFamily="34" charset="-122"/>
                <a:cs typeface="Calibri" pitchFamily="34" charset="-120"/>
              </a:rPr>
              <a:t>stakeholders (PMI, </a:t>
            </a:r>
            <a:r>
              <a:rPr lang="en-US" sz="1300" dirty="0" err="1" smtClean="0">
                <a:solidFill>
                  <a:srgbClr val="1B2B2E"/>
                </a:solidFill>
                <a:latin typeface="Calibri" pitchFamily="34" charset="0"/>
                <a:ea typeface="Calibri" pitchFamily="34" charset="-122"/>
                <a:cs typeface="Calibri" pitchFamily="34" charset="-120"/>
              </a:rPr>
              <a:t>n.d</a:t>
            </a:r>
            <a:r>
              <a:rPr lang="en-US" sz="1300" dirty="0" smtClean="0">
                <a:solidFill>
                  <a:srgbClr val="1B2B2E"/>
                </a:solidFill>
                <a:latin typeface="Calibri" pitchFamily="34" charset="0"/>
                <a:ea typeface="Calibri" pitchFamily="34" charset="-122"/>
                <a:cs typeface="Calibri" pitchFamily="34" charset="-120"/>
              </a:rPr>
              <a:t>)</a:t>
            </a:r>
            <a:endParaRPr lang="en-US" sz="1300" dirty="0"/>
          </a:p>
          <a:p>
            <a:pPr marL="152400" indent="-152400">
              <a:lnSpc>
                <a:spcPts val="1700"/>
              </a:lnSpc>
              <a:spcAft>
                <a:spcPts val="600"/>
              </a:spcAft>
              <a:buSzPct val="100000"/>
              <a:buChar char="•"/>
            </a:pPr>
            <a:r>
              <a:rPr lang="en-US" sz="1300" dirty="0">
                <a:solidFill>
                  <a:srgbClr val="1B2B2E"/>
                </a:solidFill>
                <a:latin typeface="Calibri" pitchFamily="34" charset="0"/>
                <a:ea typeface="Calibri" pitchFamily="34" charset="-122"/>
                <a:cs typeface="Calibri" pitchFamily="34" charset="-120"/>
              </a:rPr>
              <a:t>Set high-level scope &amp; objectives</a:t>
            </a:r>
            <a:endParaRPr lang="en-US" sz="1300" dirty="0"/>
          </a:p>
        </p:txBody>
      </p:sp>
      <p:sp>
        <p:nvSpPr>
          <p:cNvPr id="20" name="Shape 15"/>
          <p:cNvSpPr/>
          <p:nvPr/>
        </p:nvSpPr>
        <p:spPr>
          <a:xfrm>
            <a:off x="4160520" y="3657600"/>
            <a:ext cx="3794760" cy="2743200"/>
          </a:xfrm>
          <a:prstGeom prst="roundRect">
            <a:avLst>
              <a:gd name="adj" fmla="val 3333"/>
            </a:avLst>
          </a:prstGeom>
          <a:solidFill>
            <a:srgbClr val="F4F9F8"/>
          </a:solidFill>
          <a:ln w="12700">
            <a:solidFill>
              <a:srgbClr val="D6E7E5"/>
            </a:solidFill>
            <a:prstDash val="solid"/>
          </a:ln>
        </p:spPr>
      </p:sp>
      <p:sp>
        <p:nvSpPr>
          <p:cNvPr id="21" name="Shape 16"/>
          <p:cNvSpPr/>
          <p:nvPr/>
        </p:nvSpPr>
        <p:spPr>
          <a:xfrm>
            <a:off x="4416552" y="3931920"/>
            <a:ext cx="548640" cy="548640"/>
          </a:xfrm>
          <a:prstGeom prst="ellipse">
            <a:avLst/>
          </a:prstGeom>
          <a:solidFill>
            <a:srgbClr val="00A896"/>
          </a:solidFill>
          <a:ln/>
        </p:spPr>
      </p:sp>
      <p:pic>
        <p:nvPicPr>
          <p:cNvPr id="22" name="Image 3" descr="preencoded.png"/>
          <p:cNvPicPr>
            <a:picLocks noChangeAspect="1"/>
          </p:cNvPicPr>
          <p:nvPr/>
        </p:nvPicPr>
        <p:blipFill>
          <a:blip r:embed="rId6"/>
          <a:stretch>
            <a:fillRect/>
          </a:stretch>
        </p:blipFill>
        <p:spPr>
          <a:xfrm>
            <a:off x="4562856" y="4078224"/>
            <a:ext cx="256032" cy="256032"/>
          </a:xfrm>
          <a:prstGeom prst="rect">
            <a:avLst/>
          </a:prstGeom>
        </p:spPr>
      </p:pic>
      <p:sp>
        <p:nvSpPr>
          <p:cNvPr id="23" name="Text 17"/>
          <p:cNvSpPr/>
          <p:nvPr/>
        </p:nvSpPr>
        <p:spPr>
          <a:xfrm>
            <a:off x="5093208" y="3913632"/>
            <a:ext cx="2697480" cy="603504"/>
          </a:xfrm>
          <a:prstGeom prst="rect">
            <a:avLst/>
          </a:prstGeom>
          <a:noFill/>
          <a:ln/>
        </p:spPr>
        <p:txBody>
          <a:bodyPr wrap="square" lIns="0" tIns="0" rIns="0" bIns="0" rtlCol="0" anchor="ctr"/>
          <a:lstStyle/>
          <a:p>
            <a:pPr marL="0" indent="0">
              <a:buNone/>
            </a:pPr>
            <a:r>
              <a:rPr lang="en-US" sz="1550" b="1" dirty="0">
                <a:solidFill>
                  <a:srgbClr val="0A2E36"/>
                </a:solidFill>
                <a:latin typeface="Calibri" pitchFamily="34" charset="0"/>
                <a:ea typeface="Calibri" pitchFamily="34" charset="-122"/>
                <a:cs typeface="Calibri" pitchFamily="34" charset="-120"/>
              </a:rPr>
              <a:t>Resources Needed</a:t>
            </a:r>
            <a:endParaRPr lang="en-US" sz="1550" dirty="0"/>
          </a:p>
        </p:txBody>
      </p:sp>
      <p:sp>
        <p:nvSpPr>
          <p:cNvPr id="24" name="Text 18"/>
          <p:cNvSpPr/>
          <p:nvPr/>
        </p:nvSpPr>
        <p:spPr>
          <a:xfrm>
            <a:off x="4453128" y="4617720"/>
            <a:ext cx="3246120" cy="1600200"/>
          </a:xfrm>
          <a:prstGeom prst="rect">
            <a:avLst/>
          </a:prstGeom>
          <a:noFill/>
          <a:ln/>
        </p:spPr>
        <p:txBody>
          <a:bodyPr wrap="square" rtlCol="0" anchor="t"/>
          <a:lstStyle/>
          <a:p>
            <a:pPr marL="152400" indent="-152400">
              <a:lnSpc>
                <a:spcPts val="1700"/>
              </a:lnSpc>
              <a:spcAft>
                <a:spcPts val="600"/>
              </a:spcAft>
              <a:buSzPct val="100000"/>
              <a:buChar char="•"/>
            </a:pPr>
            <a:r>
              <a:rPr lang="en-US" sz="1300" dirty="0">
                <a:solidFill>
                  <a:srgbClr val="1B2B2E"/>
                </a:solidFill>
                <a:latin typeface="Calibri" pitchFamily="34" charset="0"/>
                <a:ea typeface="Calibri" pitchFamily="34" charset="-122"/>
                <a:cs typeface="Calibri" pitchFamily="34" charset="-120"/>
              </a:rPr>
              <a:t>Project sponsor / champion</a:t>
            </a:r>
            <a:endParaRPr lang="en-US" sz="1300" dirty="0"/>
          </a:p>
          <a:p>
            <a:pPr marL="152400" indent="-152400">
              <a:lnSpc>
                <a:spcPts val="1700"/>
              </a:lnSpc>
              <a:spcAft>
                <a:spcPts val="600"/>
              </a:spcAft>
              <a:buSzPct val="100000"/>
              <a:buChar char="•"/>
            </a:pPr>
            <a:r>
              <a:rPr lang="en-US" sz="1300" dirty="0">
                <a:solidFill>
                  <a:srgbClr val="1B2B2E"/>
                </a:solidFill>
                <a:latin typeface="Calibri" pitchFamily="34" charset="0"/>
                <a:ea typeface="Calibri" pitchFamily="34" charset="-122"/>
                <a:cs typeface="Calibri" pitchFamily="34" charset="-120"/>
              </a:rPr>
              <a:t>Executive input &amp; approval (PMI, </a:t>
            </a:r>
            <a:r>
              <a:rPr lang="en-US" sz="1300" dirty="0" err="1">
                <a:solidFill>
                  <a:srgbClr val="1B2B2E"/>
                </a:solidFill>
                <a:latin typeface="Calibri" pitchFamily="34" charset="0"/>
                <a:ea typeface="Calibri" pitchFamily="34" charset="-122"/>
                <a:cs typeface="Calibri" pitchFamily="34" charset="-120"/>
              </a:rPr>
              <a:t>n.d</a:t>
            </a:r>
            <a:r>
              <a:rPr lang="en-US" sz="1300" dirty="0" smtClean="0">
                <a:solidFill>
                  <a:srgbClr val="1B2B2E"/>
                </a:solidFill>
                <a:latin typeface="Calibri" pitchFamily="34" charset="0"/>
                <a:ea typeface="Calibri" pitchFamily="34" charset="-122"/>
                <a:cs typeface="Calibri" pitchFamily="34" charset="-120"/>
              </a:rPr>
              <a:t>).</a:t>
            </a:r>
            <a:endParaRPr lang="en-US" sz="1300" dirty="0"/>
          </a:p>
          <a:p>
            <a:pPr marL="152400" indent="-152400">
              <a:lnSpc>
                <a:spcPts val="1700"/>
              </a:lnSpc>
              <a:spcAft>
                <a:spcPts val="600"/>
              </a:spcAft>
              <a:buSzPct val="100000"/>
              <a:buChar char="•"/>
            </a:pPr>
            <a:r>
              <a:rPr lang="en-US" sz="1300" dirty="0">
                <a:solidFill>
                  <a:srgbClr val="1B2B2E"/>
                </a:solidFill>
                <a:latin typeface="Calibri" pitchFamily="34" charset="0"/>
                <a:ea typeface="Calibri" pitchFamily="34" charset="-122"/>
                <a:cs typeface="Calibri" pitchFamily="34" charset="-120"/>
              </a:rPr>
              <a:t>Feasibility information</a:t>
            </a:r>
            <a:endParaRPr lang="en-US" sz="1300" dirty="0"/>
          </a:p>
        </p:txBody>
      </p:sp>
      <p:sp>
        <p:nvSpPr>
          <p:cNvPr id="25" name="Shape 19"/>
          <p:cNvSpPr/>
          <p:nvPr/>
        </p:nvSpPr>
        <p:spPr>
          <a:xfrm>
            <a:off x="8275320" y="3657600"/>
            <a:ext cx="3794760" cy="2743200"/>
          </a:xfrm>
          <a:prstGeom prst="roundRect">
            <a:avLst>
              <a:gd name="adj" fmla="val 3333"/>
            </a:avLst>
          </a:prstGeom>
          <a:solidFill>
            <a:srgbClr val="F4F9F8"/>
          </a:solidFill>
          <a:ln w="12700">
            <a:solidFill>
              <a:srgbClr val="D6E7E5"/>
            </a:solidFill>
            <a:prstDash val="solid"/>
          </a:ln>
        </p:spPr>
      </p:sp>
      <p:sp>
        <p:nvSpPr>
          <p:cNvPr id="26" name="Shape 20"/>
          <p:cNvSpPr/>
          <p:nvPr/>
        </p:nvSpPr>
        <p:spPr>
          <a:xfrm>
            <a:off x="8531352" y="3931920"/>
            <a:ext cx="548640" cy="548640"/>
          </a:xfrm>
          <a:prstGeom prst="ellipse">
            <a:avLst/>
          </a:prstGeom>
          <a:solidFill>
            <a:srgbClr val="028090"/>
          </a:solidFill>
          <a:ln/>
        </p:spPr>
      </p:sp>
      <p:pic>
        <p:nvPicPr>
          <p:cNvPr id="27" name="Image 4" descr="preencoded.png"/>
          <p:cNvPicPr>
            <a:picLocks noChangeAspect="1"/>
          </p:cNvPicPr>
          <p:nvPr/>
        </p:nvPicPr>
        <p:blipFill>
          <a:blip r:embed="rId7"/>
          <a:stretch>
            <a:fillRect/>
          </a:stretch>
        </p:blipFill>
        <p:spPr>
          <a:xfrm>
            <a:off x="8677656" y="4078224"/>
            <a:ext cx="256032" cy="256032"/>
          </a:xfrm>
          <a:prstGeom prst="rect">
            <a:avLst/>
          </a:prstGeom>
        </p:spPr>
      </p:pic>
      <p:sp>
        <p:nvSpPr>
          <p:cNvPr id="28" name="Text 21"/>
          <p:cNvSpPr/>
          <p:nvPr/>
        </p:nvSpPr>
        <p:spPr>
          <a:xfrm>
            <a:off x="9208008" y="3913632"/>
            <a:ext cx="2697480" cy="603504"/>
          </a:xfrm>
          <a:prstGeom prst="rect">
            <a:avLst/>
          </a:prstGeom>
          <a:noFill/>
          <a:ln/>
        </p:spPr>
        <p:txBody>
          <a:bodyPr wrap="square" lIns="0" tIns="0" rIns="0" bIns="0" rtlCol="0" anchor="ctr"/>
          <a:lstStyle/>
          <a:p>
            <a:pPr marL="0" indent="0">
              <a:buNone/>
            </a:pPr>
            <a:r>
              <a:rPr lang="en-US" sz="1550" b="1" dirty="0">
                <a:solidFill>
                  <a:srgbClr val="0A2E36"/>
                </a:solidFill>
                <a:latin typeface="Calibri" pitchFamily="34" charset="0"/>
                <a:ea typeface="Calibri" pitchFamily="34" charset="-122"/>
                <a:cs typeface="Calibri" pitchFamily="34" charset="-120"/>
              </a:rPr>
              <a:t>Moves the Project Forward</a:t>
            </a:r>
            <a:endParaRPr lang="en-US" sz="1550" dirty="0"/>
          </a:p>
        </p:txBody>
      </p:sp>
      <p:sp>
        <p:nvSpPr>
          <p:cNvPr id="29" name="Text 22"/>
          <p:cNvSpPr/>
          <p:nvPr/>
        </p:nvSpPr>
        <p:spPr>
          <a:xfrm>
            <a:off x="8567928" y="4617720"/>
            <a:ext cx="3246120" cy="1600200"/>
          </a:xfrm>
          <a:prstGeom prst="rect">
            <a:avLst/>
          </a:prstGeom>
          <a:noFill/>
          <a:ln/>
        </p:spPr>
        <p:txBody>
          <a:bodyPr wrap="square" rtlCol="0" anchor="t"/>
          <a:lstStyle/>
          <a:p>
            <a:pPr marL="0" indent="0">
              <a:lnSpc>
                <a:spcPts val="1900"/>
              </a:lnSpc>
              <a:buNone/>
            </a:pPr>
            <a:r>
              <a:rPr lang="en-US" sz="1350" dirty="0">
                <a:solidFill>
                  <a:srgbClr val="1B2B2E"/>
                </a:solidFill>
                <a:latin typeface="Calibri" pitchFamily="34" charset="0"/>
                <a:ea typeface="Calibri" pitchFamily="34" charset="-122"/>
                <a:cs typeface="Calibri" pitchFamily="34" charset="-120"/>
              </a:rPr>
              <a:t>Gives the project </a:t>
            </a:r>
            <a:r>
              <a:rPr lang="en-US" sz="1350" dirty="0" smtClean="0">
                <a:solidFill>
                  <a:srgbClr val="1B2B2E"/>
                </a:solidFill>
                <a:latin typeface="Calibri" pitchFamily="34" charset="0"/>
                <a:ea typeface="Calibri" pitchFamily="34" charset="-122"/>
                <a:cs typeface="Calibri" pitchFamily="34" charset="-120"/>
              </a:rPr>
              <a:t>the right to exist or offers the green light</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0A2E36"/>
          </a:solidFill>
          <a:ln/>
        </p:spPr>
      </p:sp>
      <p:sp>
        <p:nvSpPr>
          <p:cNvPr id="4" name="Text 2"/>
          <p:cNvSpPr/>
          <p:nvPr/>
        </p:nvSpPr>
        <p:spPr>
          <a:xfrm>
            <a:off x="502920" y="685800"/>
            <a:ext cx="2743200" cy="365760"/>
          </a:xfrm>
          <a:prstGeom prst="rect">
            <a:avLst/>
          </a:prstGeom>
          <a:noFill/>
          <a:ln/>
        </p:spPr>
        <p:txBody>
          <a:bodyPr wrap="square" rtlCol="0" anchor="ctr"/>
          <a:lstStyle/>
          <a:p>
            <a:pPr marL="0" indent="0">
              <a:buNone/>
            </a:pPr>
            <a:r>
              <a:rPr lang="en-US" sz="1400" b="1" kern="0" spc="400" dirty="0">
                <a:solidFill>
                  <a:srgbClr val="00A896"/>
                </a:solidFill>
                <a:latin typeface="Calibri" pitchFamily="34" charset="0"/>
                <a:ea typeface="Calibri" pitchFamily="34" charset="-122"/>
                <a:cs typeface="Calibri" pitchFamily="34" charset="-120"/>
              </a:rPr>
              <a:t>PHASE</a:t>
            </a:r>
            <a:endParaRPr lang="en-US" sz="1400" dirty="0"/>
          </a:p>
        </p:txBody>
      </p:sp>
      <p:sp>
        <p:nvSpPr>
          <p:cNvPr id="5" name="Text 3"/>
          <p:cNvSpPr/>
          <p:nvPr/>
        </p:nvSpPr>
        <p:spPr>
          <a:xfrm>
            <a:off x="411480" y="868680"/>
            <a:ext cx="3017520" cy="1828800"/>
          </a:xfrm>
          <a:prstGeom prst="rect">
            <a:avLst/>
          </a:prstGeom>
          <a:noFill/>
          <a:ln/>
        </p:spPr>
        <p:txBody>
          <a:bodyPr wrap="square" rtlCol="0" anchor="ctr"/>
          <a:lstStyle/>
          <a:p>
            <a:pPr marL="0" indent="0">
              <a:buNone/>
            </a:pPr>
            <a:r>
              <a:rPr lang="en-US" sz="12000" b="1" dirty="0">
                <a:solidFill>
                  <a:srgbClr val="FFFFFF"/>
                </a:solidFill>
                <a:latin typeface="Cambria" pitchFamily="34" charset="0"/>
                <a:ea typeface="Cambria" pitchFamily="34" charset="-122"/>
                <a:cs typeface="Cambria" pitchFamily="34" charset="-120"/>
              </a:rPr>
              <a:t>2</a:t>
            </a:r>
            <a:endParaRPr lang="en-US" sz="12000" dirty="0"/>
          </a:p>
        </p:txBody>
      </p:sp>
      <p:sp>
        <p:nvSpPr>
          <p:cNvPr id="6" name="Shape 4"/>
          <p:cNvSpPr/>
          <p:nvPr/>
        </p:nvSpPr>
        <p:spPr>
          <a:xfrm>
            <a:off x="525780" y="2903220"/>
            <a:ext cx="1051560" cy="1051560"/>
          </a:xfrm>
          <a:prstGeom prst="ellipse">
            <a:avLst/>
          </a:prstGeom>
          <a:solidFill>
            <a:srgbClr val="02C39A"/>
          </a:solidFill>
          <a:ln/>
        </p:spPr>
      </p:sp>
      <p:pic>
        <p:nvPicPr>
          <p:cNvPr id="7" name="Image 0" descr="preencoded.png"/>
          <p:cNvPicPr>
            <a:picLocks noChangeAspect="1"/>
          </p:cNvPicPr>
          <p:nvPr/>
        </p:nvPicPr>
        <p:blipFill>
          <a:blip r:embed="rId3"/>
          <a:stretch>
            <a:fillRect/>
          </a:stretch>
        </p:blipFill>
        <p:spPr>
          <a:xfrm>
            <a:off x="788670" y="3166110"/>
            <a:ext cx="525780" cy="525780"/>
          </a:xfrm>
          <a:prstGeom prst="rect">
            <a:avLst/>
          </a:prstGeom>
        </p:spPr>
      </p:pic>
      <p:sp>
        <p:nvSpPr>
          <p:cNvPr id="8" name="Text 5"/>
          <p:cNvSpPr/>
          <p:nvPr/>
        </p:nvSpPr>
        <p:spPr>
          <a:xfrm>
            <a:off x="457200" y="4114800"/>
            <a:ext cx="3017520" cy="914400"/>
          </a:xfrm>
          <a:prstGeom prst="rect">
            <a:avLst/>
          </a:prstGeom>
          <a:noFill/>
          <a:ln/>
        </p:spPr>
        <p:txBody>
          <a:bodyPr wrap="square" rtlCol="0" anchor="ctr"/>
          <a:lstStyle/>
          <a:p>
            <a:pPr marL="0" indent="0">
              <a:lnSpc>
                <a:spcPts val="2700"/>
              </a:lnSpc>
              <a:buNone/>
            </a:pPr>
            <a:r>
              <a:rPr lang="en-US" sz="2600" b="1" dirty="0">
                <a:solidFill>
                  <a:srgbClr val="FFFFFF"/>
                </a:solidFill>
                <a:latin typeface="Cambria" pitchFamily="34" charset="0"/>
                <a:ea typeface="Cambria" pitchFamily="34" charset="-122"/>
                <a:cs typeface="Cambria" pitchFamily="34" charset="-120"/>
              </a:rPr>
              <a:t>Planning</a:t>
            </a:r>
            <a:endParaRPr lang="en-US" sz="2600" dirty="0"/>
          </a:p>
        </p:txBody>
      </p:sp>
      <p:sp>
        <p:nvSpPr>
          <p:cNvPr id="9" name="Text 6"/>
          <p:cNvSpPr/>
          <p:nvPr/>
        </p:nvSpPr>
        <p:spPr>
          <a:xfrm>
            <a:off x="502920" y="5166360"/>
            <a:ext cx="2926080" cy="1097280"/>
          </a:xfrm>
          <a:prstGeom prst="rect">
            <a:avLst/>
          </a:prstGeom>
          <a:noFill/>
          <a:ln/>
        </p:spPr>
        <p:txBody>
          <a:bodyPr wrap="square" rtlCol="0" anchor="ctr"/>
          <a:lstStyle/>
          <a:p>
            <a:pPr marL="0" indent="0">
              <a:lnSpc>
                <a:spcPts val="1900"/>
              </a:lnSpc>
              <a:buNone/>
            </a:pPr>
            <a:r>
              <a:rPr lang="en-US" sz="1400" i="1" dirty="0">
                <a:solidFill>
                  <a:srgbClr val="B9D6D4"/>
                </a:solidFill>
                <a:latin typeface="Calibri" pitchFamily="34" charset="0"/>
                <a:ea typeface="Calibri" pitchFamily="34" charset="-122"/>
                <a:cs typeface="Calibri" pitchFamily="34" charset="-120"/>
              </a:rPr>
              <a:t>Turn the approved idea into a detailed, executable roadmap.</a:t>
            </a:r>
            <a:endParaRPr lang="en-US" sz="1400" dirty="0"/>
          </a:p>
        </p:txBody>
      </p:sp>
      <p:sp>
        <p:nvSpPr>
          <p:cNvPr id="10" name="Shape 7"/>
          <p:cNvSpPr/>
          <p:nvPr/>
        </p:nvSpPr>
        <p:spPr>
          <a:xfrm>
            <a:off x="4160520" y="594360"/>
            <a:ext cx="3794760" cy="2743200"/>
          </a:xfrm>
          <a:prstGeom prst="roundRect">
            <a:avLst>
              <a:gd name="adj" fmla="val 3333"/>
            </a:avLst>
          </a:prstGeom>
          <a:solidFill>
            <a:srgbClr val="EAF4F3"/>
          </a:solidFill>
          <a:ln w="12700">
            <a:solidFill>
              <a:srgbClr val="D6E7E5"/>
            </a:solidFill>
            <a:prstDash val="solid"/>
          </a:ln>
        </p:spPr>
      </p:sp>
      <p:sp>
        <p:nvSpPr>
          <p:cNvPr id="11" name="Shape 8"/>
          <p:cNvSpPr/>
          <p:nvPr/>
        </p:nvSpPr>
        <p:spPr>
          <a:xfrm>
            <a:off x="4416552" y="868680"/>
            <a:ext cx="548640" cy="548640"/>
          </a:xfrm>
          <a:prstGeom prst="ellipse">
            <a:avLst/>
          </a:prstGeom>
          <a:solidFill>
            <a:srgbClr val="028090"/>
          </a:solidFill>
          <a:ln/>
        </p:spPr>
      </p:sp>
      <p:pic>
        <p:nvPicPr>
          <p:cNvPr id="12" name="Image 1" descr="preencoded.png"/>
          <p:cNvPicPr>
            <a:picLocks noChangeAspect="1"/>
          </p:cNvPicPr>
          <p:nvPr/>
        </p:nvPicPr>
        <p:blipFill>
          <a:blip r:embed="rId4"/>
          <a:stretch>
            <a:fillRect/>
          </a:stretch>
        </p:blipFill>
        <p:spPr>
          <a:xfrm>
            <a:off x="4562856" y="1014984"/>
            <a:ext cx="256032" cy="256032"/>
          </a:xfrm>
          <a:prstGeom prst="rect">
            <a:avLst/>
          </a:prstGeom>
        </p:spPr>
      </p:pic>
      <p:sp>
        <p:nvSpPr>
          <p:cNvPr id="13" name="Text 9"/>
          <p:cNvSpPr/>
          <p:nvPr/>
        </p:nvSpPr>
        <p:spPr>
          <a:xfrm>
            <a:off x="5093208" y="850392"/>
            <a:ext cx="2697480" cy="603504"/>
          </a:xfrm>
          <a:prstGeom prst="rect">
            <a:avLst/>
          </a:prstGeom>
          <a:noFill/>
          <a:ln/>
        </p:spPr>
        <p:txBody>
          <a:bodyPr wrap="square" lIns="0" tIns="0" rIns="0" bIns="0" rtlCol="0" anchor="ctr"/>
          <a:lstStyle/>
          <a:p>
            <a:pPr marL="0" indent="0">
              <a:buNone/>
            </a:pPr>
            <a:r>
              <a:rPr lang="en-US" sz="1550" b="1" dirty="0">
                <a:solidFill>
                  <a:srgbClr val="0A2E36"/>
                </a:solidFill>
                <a:latin typeface="Calibri" pitchFamily="34" charset="0"/>
                <a:ea typeface="Calibri" pitchFamily="34" charset="-122"/>
                <a:cs typeface="Calibri" pitchFamily="34" charset="-120"/>
              </a:rPr>
              <a:t>Purpose</a:t>
            </a:r>
            <a:endParaRPr lang="en-US" sz="1550" dirty="0"/>
          </a:p>
        </p:txBody>
      </p:sp>
      <p:sp>
        <p:nvSpPr>
          <p:cNvPr id="14" name="Text 10"/>
          <p:cNvSpPr/>
          <p:nvPr/>
        </p:nvSpPr>
        <p:spPr>
          <a:xfrm>
            <a:off x="4453128" y="1554480"/>
            <a:ext cx="3246120" cy="1600200"/>
          </a:xfrm>
          <a:prstGeom prst="rect">
            <a:avLst/>
          </a:prstGeom>
          <a:noFill/>
          <a:ln/>
        </p:spPr>
        <p:txBody>
          <a:bodyPr wrap="square" rtlCol="0" anchor="t"/>
          <a:lstStyle/>
          <a:p>
            <a:pPr marL="0" indent="0">
              <a:lnSpc>
                <a:spcPts val="1900"/>
              </a:lnSpc>
              <a:buNone/>
            </a:pPr>
            <a:r>
              <a:rPr lang="en-US" sz="1350" dirty="0">
                <a:solidFill>
                  <a:srgbClr val="1B2B2E"/>
                </a:solidFill>
                <a:latin typeface="Calibri" pitchFamily="34" charset="0"/>
                <a:ea typeface="Calibri" pitchFamily="34" charset="-122"/>
                <a:cs typeface="Calibri" pitchFamily="34" charset="-120"/>
              </a:rPr>
              <a:t>Define precisely how the objectives will be </a:t>
            </a:r>
            <a:r>
              <a:rPr lang="en-US" sz="1350" dirty="0" smtClean="0">
                <a:solidFill>
                  <a:srgbClr val="1B2B2E"/>
                </a:solidFill>
                <a:latin typeface="Calibri" pitchFamily="34" charset="0"/>
                <a:ea typeface="Calibri" pitchFamily="34" charset="-122"/>
                <a:cs typeface="Calibri" pitchFamily="34" charset="-120"/>
              </a:rPr>
              <a:t>achieved.</a:t>
            </a:r>
            <a:endParaRPr lang="en-US" sz="1350" dirty="0"/>
          </a:p>
        </p:txBody>
      </p:sp>
      <p:sp>
        <p:nvSpPr>
          <p:cNvPr id="15" name="Shape 11"/>
          <p:cNvSpPr/>
          <p:nvPr/>
        </p:nvSpPr>
        <p:spPr>
          <a:xfrm>
            <a:off x="8275320" y="594360"/>
            <a:ext cx="3794760" cy="2743200"/>
          </a:xfrm>
          <a:prstGeom prst="roundRect">
            <a:avLst>
              <a:gd name="adj" fmla="val 3333"/>
            </a:avLst>
          </a:prstGeom>
          <a:solidFill>
            <a:srgbClr val="F4F9F8"/>
          </a:solidFill>
          <a:ln w="12700">
            <a:solidFill>
              <a:srgbClr val="D6E7E5"/>
            </a:solidFill>
            <a:prstDash val="solid"/>
          </a:ln>
        </p:spPr>
      </p:sp>
      <p:sp>
        <p:nvSpPr>
          <p:cNvPr id="16" name="Shape 12"/>
          <p:cNvSpPr/>
          <p:nvPr/>
        </p:nvSpPr>
        <p:spPr>
          <a:xfrm>
            <a:off x="8531352" y="868680"/>
            <a:ext cx="548640" cy="548640"/>
          </a:xfrm>
          <a:prstGeom prst="ellipse">
            <a:avLst/>
          </a:prstGeom>
          <a:solidFill>
            <a:srgbClr val="00A896"/>
          </a:solidFill>
          <a:ln/>
        </p:spPr>
      </p:sp>
      <p:pic>
        <p:nvPicPr>
          <p:cNvPr id="17" name="Image 2" descr="preencoded.png"/>
          <p:cNvPicPr>
            <a:picLocks noChangeAspect="1"/>
          </p:cNvPicPr>
          <p:nvPr/>
        </p:nvPicPr>
        <p:blipFill>
          <a:blip r:embed="rId3"/>
          <a:stretch>
            <a:fillRect/>
          </a:stretch>
        </p:blipFill>
        <p:spPr>
          <a:xfrm>
            <a:off x="8677656" y="1014984"/>
            <a:ext cx="256032" cy="256032"/>
          </a:xfrm>
          <a:prstGeom prst="rect">
            <a:avLst/>
          </a:prstGeom>
        </p:spPr>
      </p:pic>
      <p:sp>
        <p:nvSpPr>
          <p:cNvPr id="18" name="Text 13"/>
          <p:cNvSpPr/>
          <p:nvPr/>
        </p:nvSpPr>
        <p:spPr>
          <a:xfrm>
            <a:off x="9208008" y="850392"/>
            <a:ext cx="2697480" cy="603504"/>
          </a:xfrm>
          <a:prstGeom prst="rect">
            <a:avLst/>
          </a:prstGeom>
          <a:noFill/>
          <a:ln/>
        </p:spPr>
        <p:txBody>
          <a:bodyPr wrap="square" lIns="0" tIns="0" rIns="0" bIns="0" rtlCol="0" anchor="ctr"/>
          <a:lstStyle/>
          <a:p>
            <a:pPr marL="0" indent="0">
              <a:buNone/>
            </a:pPr>
            <a:r>
              <a:rPr lang="en-US" sz="1550" b="1" dirty="0">
                <a:solidFill>
                  <a:srgbClr val="0A2E36"/>
                </a:solidFill>
                <a:latin typeface="Calibri" pitchFamily="34" charset="0"/>
                <a:ea typeface="Calibri" pitchFamily="34" charset="-122"/>
                <a:cs typeface="Calibri" pitchFamily="34" charset="-120"/>
              </a:rPr>
              <a:t>Key Tasks</a:t>
            </a:r>
            <a:endParaRPr lang="en-US" sz="1550" dirty="0"/>
          </a:p>
        </p:txBody>
      </p:sp>
      <p:sp>
        <p:nvSpPr>
          <p:cNvPr id="19" name="Text 14"/>
          <p:cNvSpPr/>
          <p:nvPr/>
        </p:nvSpPr>
        <p:spPr>
          <a:xfrm>
            <a:off x="8567928" y="1554480"/>
            <a:ext cx="3246120" cy="1600200"/>
          </a:xfrm>
          <a:prstGeom prst="rect">
            <a:avLst/>
          </a:prstGeom>
          <a:noFill/>
          <a:ln/>
        </p:spPr>
        <p:txBody>
          <a:bodyPr wrap="square" rtlCol="0" anchor="t"/>
          <a:lstStyle/>
          <a:p>
            <a:pPr marL="152400" indent="-152400">
              <a:lnSpc>
                <a:spcPts val="1700"/>
              </a:lnSpc>
              <a:spcAft>
                <a:spcPts val="600"/>
              </a:spcAft>
              <a:buSzPct val="100000"/>
              <a:buChar char="•"/>
            </a:pPr>
            <a:r>
              <a:rPr lang="en-US" sz="1300" dirty="0">
                <a:solidFill>
                  <a:srgbClr val="1B2B2E"/>
                </a:solidFill>
                <a:latin typeface="Calibri" pitchFamily="34" charset="0"/>
                <a:ea typeface="Calibri" pitchFamily="34" charset="-122"/>
                <a:cs typeface="Calibri" pitchFamily="34" charset="-120"/>
              </a:rPr>
              <a:t>S</a:t>
            </a:r>
            <a:r>
              <a:rPr lang="en-US" sz="1300" dirty="0" smtClean="0">
                <a:solidFill>
                  <a:srgbClr val="1B2B2E"/>
                </a:solidFill>
                <a:latin typeface="Calibri" pitchFamily="34" charset="0"/>
                <a:ea typeface="Calibri" pitchFamily="34" charset="-122"/>
                <a:cs typeface="Calibri" pitchFamily="34" charset="-120"/>
              </a:rPr>
              <a:t>cope</a:t>
            </a:r>
            <a:r>
              <a:rPr lang="en-US" sz="1300" dirty="0">
                <a:solidFill>
                  <a:srgbClr val="1B2B2E"/>
                </a:solidFill>
                <a:latin typeface="Calibri" pitchFamily="34" charset="0"/>
                <a:ea typeface="Calibri" pitchFamily="34" charset="-122"/>
                <a:cs typeface="Calibri" pitchFamily="34" charset="-120"/>
              </a:rPr>
              <a:t>, schedule &amp; milestones</a:t>
            </a:r>
            <a:endParaRPr lang="en-US" sz="1300" dirty="0"/>
          </a:p>
          <a:p>
            <a:pPr marL="152400" indent="-152400">
              <a:lnSpc>
                <a:spcPts val="1700"/>
              </a:lnSpc>
              <a:spcAft>
                <a:spcPts val="600"/>
              </a:spcAft>
              <a:buSzPct val="100000"/>
              <a:buChar char="•"/>
            </a:pPr>
            <a:r>
              <a:rPr lang="en-US" sz="1300" dirty="0">
                <a:solidFill>
                  <a:srgbClr val="1B2B2E"/>
                </a:solidFill>
                <a:latin typeface="Calibri" pitchFamily="34" charset="0"/>
                <a:ea typeface="Calibri" pitchFamily="34" charset="-122"/>
                <a:cs typeface="Calibri" pitchFamily="34" charset="-120"/>
              </a:rPr>
              <a:t>B</a:t>
            </a:r>
            <a:r>
              <a:rPr lang="en-US" sz="1300" dirty="0" smtClean="0">
                <a:solidFill>
                  <a:srgbClr val="1B2B2E"/>
                </a:solidFill>
                <a:latin typeface="Calibri" pitchFamily="34" charset="0"/>
                <a:ea typeface="Calibri" pitchFamily="34" charset="-122"/>
                <a:cs typeface="Calibri" pitchFamily="34" charset="-120"/>
              </a:rPr>
              <a:t>udget </a:t>
            </a:r>
            <a:r>
              <a:rPr lang="en-US" sz="1300" dirty="0">
                <a:solidFill>
                  <a:srgbClr val="1B2B2E"/>
                </a:solidFill>
                <a:latin typeface="Calibri" pitchFamily="34" charset="0"/>
                <a:ea typeface="Calibri" pitchFamily="34" charset="-122"/>
                <a:cs typeface="Calibri" pitchFamily="34" charset="-120"/>
              </a:rPr>
              <a:t>&amp; resources</a:t>
            </a:r>
            <a:endParaRPr lang="en-US" sz="1300" dirty="0"/>
          </a:p>
          <a:p>
            <a:pPr marL="152400" indent="-152400">
              <a:lnSpc>
                <a:spcPts val="1700"/>
              </a:lnSpc>
              <a:spcAft>
                <a:spcPts val="600"/>
              </a:spcAft>
              <a:buSzPct val="100000"/>
              <a:buChar char="•"/>
            </a:pPr>
            <a:r>
              <a:rPr lang="en-US" sz="1300" dirty="0">
                <a:solidFill>
                  <a:srgbClr val="1B2B2E"/>
                </a:solidFill>
                <a:latin typeface="Calibri" pitchFamily="34" charset="0"/>
                <a:ea typeface="Calibri" pitchFamily="34" charset="-122"/>
                <a:cs typeface="Calibri" pitchFamily="34" charset="-120"/>
              </a:rPr>
              <a:t>Assign roles &amp; responsibilities</a:t>
            </a:r>
            <a:endParaRPr lang="en-US" sz="1300" dirty="0"/>
          </a:p>
          <a:p>
            <a:pPr marL="152400" indent="-152400">
              <a:lnSpc>
                <a:spcPts val="1700"/>
              </a:lnSpc>
              <a:spcAft>
                <a:spcPts val="600"/>
              </a:spcAft>
              <a:buSzPct val="100000"/>
              <a:buChar char="•"/>
            </a:pPr>
            <a:r>
              <a:rPr lang="en-US" sz="1300" dirty="0">
                <a:solidFill>
                  <a:srgbClr val="1B2B2E"/>
                </a:solidFill>
                <a:latin typeface="Calibri" pitchFamily="34" charset="0"/>
                <a:ea typeface="Calibri" pitchFamily="34" charset="-122"/>
                <a:cs typeface="Calibri" pitchFamily="34" charset="-120"/>
              </a:rPr>
              <a:t>Build risk &amp; communication plans</a:t>
            </a:r>
            <a:endParaRPr lang="en-US" sz="1300" dirty="0"/>
          </a:p>
        </p:txBody>
      </p:sp>
      <p:sp>
        <p:nvSpPr>
          <p:cNvPr id="20" name="Shape 15"/>
          <p:cNvSpPr/>
          <p:nvPr/>
        </p:nvSpPr>
        <p:spPr>
          <a:xfrm>
            <a:off x="4160520" y="3657600"/>
            <a:ext cx="3794760" cy="2743200"/>
          </a:xfrm>
          <a:prstGeom prst="roundRect">
            <a:avLst>
              <a:gd name="adj" fmla="val 3333"/>
            </a:avLst>
          </a:prstGeom>
          <a:solidFill>
            <a:srgbClr val="F4F9F8"/>
          </a:solidFill>
          <a:ln w="12700">
            <a:solidFill>
              <a:srgbClr val="D6E7E5"/>
            </a:solidFill>
            <a:prstDash val="solid"/>
          </a:ln>
        </p:spPr>
      </p:sp>
      <p:sp>
        <p:nvSpPr>
          <p:cNvPr id="21" name="Shape 16"/>
          <p:cNvSpPr/>
          <p:nvPr/>
        </p:nvSpPr>
        <p:spPr>
          <a:xfrm>
            <a:off x="4416552" y="3931920"/>
            <a:ext cx="548640" cy="548640"/>
          </a:xfrm>
          <a:prstGeom prst="ellipse">
            <a:avLst/>
          </a:prstGeom>
          <a:solidFill>
            <a:srgbClr val="00A896"/>
          </a:solidFill>
          <a:ln/>
        </p:spPr>
      </p:sp>
      <p:pic>
        <p:nvPicPr>
          <p:cNvPr id="22" name="Image 3" descr="preencoded.png"/>
          <p:cNvPicPr>
            <a:picLocks noChangeAspect="1"/>
          </p:cNvPicPr>
          <p:nvPr/>
        </p:nvPicPr>
        <p:blipFill>
          <a:blip r:embed="rId5"/>
          <a:stretch>
            <a:fillRect/>
          </a:stretch>
        </p:blipFill>
        <p:spPr>
          <a:xfrm>
            <a:off x="4562856" y="4078224"/>
            <a:ext cx="256032" cy="256032"/>
          </a:xfrm>
          <a:prstGeom prst="rect">
            <a:avLst/>
          </a:prstGeom>
        </p:spPr>
      </p:pic>
      <p:sp>
        <p:nvSpPr>
          <p:cNvPr id="23" name="Text 17"/>
          <p:cNvSpPr/>
          <p:nvPr/>
        </p:nvSpPr>
        <p:spPr>
          <a:xfrm>
            <a:off x="5093208" y="3913632"/>
            <a:ext cx="2697480" cy="603504"/>
          </a:xfrm>
          <a:prstGeom prst="rect">
            <a:avLst/>
          </a:prstGeom>
          <a:noFill/>
          <a:ln/>
        </p:spPr>
        <p:txBody>
          <a:bodyPr wrap="square" lIns="0" tIns="0" rIns="0" bIns="0" rtlCol="0" anchor="ctr"/>
          <a:lstStyle/>
          <a:p>
            <a:pPr marL="0" indent="0">
              <a:buNone/>
            </a:pPr>
            <a:r>
              <a:rPr lang="en-US" sz="1550" b="1" dirty="0">
                <a:solidFill>
                  <a:srgbClr val="0A2E36"/>
                </a:solidFill>
                <a:latin typeface="Calibri" pitchFamily="34" charset="0"/>
                <a:ea typeface="Calibri" pitchFamily="34" charset="-122"/>
                <a:cs typeface="Calibri" pitchFamily="34" charset="-120"/>
              </a:rPr>
              <a:t>Resources Needed</a:t>
            </a:r>
            <a:endParaRPr lang="en-US" sz="1550" dirty="0"/>
          </a:p>
        </p:txBody>
      </p:sp>
      <p:sp>
        <p:nvSpPr>
          <p:cNvPr id="24" name="Text 18"/>
          <p:cNvSpPr/>
          <p:nvPr/>
        </p:nvSpPr>
        <p:spPr>
          <a:xfrm>
            <a:off x="4453128" y="4617720"/>
            <a:ext cx="3246120" cy="1600200"/>
          </a:xfrm>
          <a:prstGeom prst="rect">
            <a:avLst/>
          </a:prstGeom>
          <a:noFill/>
          <a:ln/>
        </p:spPr>
        <p:txBody>
          <a:bodyPr wrap="square" rtlCol="0" anchor="t"/>
          <a:lstStyle/>
          <a:p>
            <a:pPr marL="152400" indent="-152400">
              <a:lnSpc>
                <a:spcPts val="1700"/>
              </a:lnSpc>
              <a:spcAft>
                <a:spcPts val="600"/>
              </a:spcAft>
              <a:buSzPct val="100000"/>
              <a:buChar char="•"/>
            </a:pPr>
            <a:r>
              <a:rPr lang="en-US" sz="1300" dirty="0">
                <a:solidFill>
                  <a:srgbClr val="1B2B2E"/>
                </a:solidFill>
                <a:latin typeface="Calibri" pitchFamily="34" charset="0"/>
                <a:ea typeface="Calibri" pitchFamily="34" charset="-122"/>
                <a:cs typeface="Calibri" pitchFamily="34" charset="-120"/>
              </a:rPr>
              <a:t>Project manager</a:t>
            </a:r>
            <a:endParaRPr lang="en-US" sz="1300" dirty="0"/>
          </a:p>
          <a:p>
            <a:pPr marL="152400" indent="-152400">
              <a:lnSpc>
                <a:spcPts val="1700"/>
              </a:lnSpc>
              <a:spcAft>
                <a:spcPts val="600"/>
              </a:spcAft>
              <a:buSzPct val="100000"/>
              <a:buChar char="•"/>
            </a:pPr>
            <a:r>
              <a:rPr lang="en-US" sz="1300" dirty="0">
                <a:solidFill>
                  <a:srgbClr val="1B2B2E"/>
                </a:solidFill>
                <a:latin typeface="Calibri" pitchFamily="34" charset="0"/>
                <a:ea typeface="Calibri" pitchFamily="34" charset="-122"/>
                <a:cs typeface="Calibri" pitchFamily="34" charset="-120"/>
              </a:rPr>
              <a:t>Full project team</a:t>
            </a:r>
            <a:endParaRPr lang="en-US" sz="1300" dirty="0"/>
          </a:p>
          <a:p>
            <a:pPr marL="152400" indent="-152400">
              <a:lnSpc>
                <a:spcPts val="1700"/>
              </a:lnSpc>
              <a:spcAft>
                <a:spcPts val="600"/>
              </a:spcAft>
              <a:buSzPct val="100000"/>
              <a:buChar char="•"/>
            </a:pPr>
            <a:r>
              <a:rPr lang="en-US" sz="1300" dirty="0">
                <a:solidFill>
                  <a:srgbClr val="1B2B2E"/>
                </a:solidFill>
                <a:latin typeface="Calibri" pitchFamily="34" charset="0"/>
                <a:ea typeface="Calibri" pitchFamily="34" charset="-122"/>
                <a:cs typeface="Calibri" pitchFamily="34" charset="-120"/>
              </a:rPr>
              <a:t>Planning tools / software</a:t>
            </a:r>
            <a:endParaRPr lang="en-US" sz="1300" dirty="0"/>
          </a:p>
          <a:p>
            <a:pPr marL="152400" indent="-152400">
              <a:lnSpc>
                <a:spcPts val="1700"/>
              </a:lnSpc>
              <a:spcAft>
                <a:spcPts val="600"/>
              </a:spcAft>
              <a:buSzPct val="100000"/>
              <a:buChar char="•"/>
            </a:pPr>
            <a:r>
              <a:rPr lang="en-US" sz="1300" dirty="0">
                <a:solidFill>
                  <a:srgbClr val="1B2B2E"/>
                </a:solidFill>
                <a:latin typeface="Calibri" pitchFamily="34" charset="0"/>
                <a:ea typeface="Calibri" pitchFamily="34" charset="-122"/>
                <a:cs typeface="Calibri" pitchFamily="34" charset="-120"/>
              </a:rPr>
              <a:t>Historical project data</a:t>
            </a:r>
            <a:endParaRPr lang="en-US" sz="1300" dirty="0"/>
          </a:p>
        </p:txBody>
      </p:sp>
      <p:sp>
        <p:nvSpPr>
          <p:cNvPr id="25" name="Shape 19"/>
          <p:cNvSpPr/>
          <p:nvPr/>
        </p:nvSpPr>
        <p:spPr>
          <a:xfrm>
            <a:off x="8275320" y="3657600"/>
            <a:ext cx="3794760" cy="2743200"/>
          </a:xfrm>
          <a:prstGeom prst="roundRect">
            <a:avLst>
              <a:gd name="adj" fmla="val 3333"/>
            </a:avLst>
          </a:prstGeom>
          <a:solidFill>
            <a:srgbClr val="F4F9F8"/>
          </a:solidFill>
          <a:ln w="12700">
            <a:solidFill>
              <a:srgbClr val="D6E7E5"/>
            </a:solidFill>
            <a:prstDash val="solid"/>
          </a:ln>
        </p:spPr>
      </p:sp>
      <p:sp>
        <p:nvSpPr>
          <p:cNvPr id="26" name="Shape 20"/>
          <p:cNvSpPr/>
          <p:nvPr/>
        </p:nvSpPr>
        <p:spPr>
          <a:xfrm>
            <a:off x="8531352" y="3931920"/>
            <a:ext cx="548640" cy="548640"/>
          </a:xfrm>
          <a:prstGeom prst="ellipse">
            <a:avLst/>
          </a:prstGeom>
          <a:solidFill>
            <a:srgbClr val="028090"/>
          </a:solidFill>
          <a:ln/>
        </p:spPr>
      </p:sp>
      <p:pic>
        <p:nvPicPr>
          <p:cNvPr id="27" name="Image 4" descr="preencoded.png"/>
          <p:cNvPicPr>
            <a:picLocks noChangeAspect="1"/>
          </p:cNvPicPr>
          <p:nvPr/>
        </p:nvPicPr>
        <p:blipFill>
          <a:blip r:embed="rId6"/>
          <a:stretch>
            <a:fillRect/>
          </a:stretch>
        </p:blipFill>
        <p:spPr>
          <a:xfrm>
            <a:off x="8677656" y="4078224"/>
            <a:ext cx="256032" cy="256032"/>
          </a:xfrm>
          <a:prstGeom prst="rect">
            <a:avLst/>
          </a:prstGeom>
        </p:spPr>
      </p:pic>
      <p:sp>
        <p:nvSpPr>
          <p:cNvPr id="28" name="Text 21"/>
          <p:cNvSpPr/>
          <p:nvPr/>
        </p:nvSpPr>
        <p:spPr>
          <a:xfrm>
            <a:off x="9208008" y="3913632"/>
            <a:ext cx="2697480" cy="603504"/>
          </a:xfrm>
          <a:prstGeom prst="rect">
            <a:avLst/>
          </a:prstGeom>
          <a:noFill/>
          <a:ln/>
        </p:spPr>
        <p:txBody>
          <a:bodyPr wrap="square" lIns="0" tIns="0" rIns="0" bIns="0" rtlCol="0" anchor="ctr"/>
          <a:lstStyle/>
          <a:p>
            <a:pPr marL="0" indent="0">
              <a:buNone/>
            </a:pPr>
            <a:r>
              <a:rPr lang="en-US" sz="1550" b="1" dirty="0">
                <a:solidFill>
                  <a:srgbClr val="0A2E36"/>
                </a:solidFill>
                <a:latin typeface="Calibri" pitchFamily="34" charset="0"/>
                <a:ea typeface="Calibri" pitchFamily="34" charset="-122"/>
                <a:cs typeface="Calibri" pitchFamily="34" charset="-120"/>
              </a:rPr>
              <a:t>Moves the Project Forward</a:t>
            </a:r>
            <a:endParaRPr lang="en-US" sz="1550" dirty="0"/>
          </a:p>
        </p:txBody>
      </p:sp>
      <p:sp>
        <p:nvSpPr>
          <p:cNvPr id="29" name="Text 22"/>
          <p:cNvSpPr/>
          <p:nvPr/>
        </p:nvSpPr>
        <p:spPr>
          <a:xfrm>
            <a:off x="8567928" y="4617720"/>
            <a:ext cx="3246120" cy="1600200"/>
          </a:xfrm>
          <a:prstGeom prst="rect">
            <a:avLst/>
          </a:prstGeom>
          <a:noFill/>
          <a:ln/>
        </p:spPr>
        <p:txBody>
          <a:bodyPr wrap="square" rtlCol="0" anchor="t"/>
          <a:lstStyle/>
          <a:p>
            <a:pPr marL="0" indent="0">
              <a:lnSpc>
                <a:spcPts val="1900"/>
              </a:lnSpc>
              <a:buNone/>
            </a:pPr>
            <a:r>
              <a:rPr lang="en-US" sz="1350" dirty="0">
                <a:solidFill>
                  <a:srgbClr val="1B2B2E"/>
                </a:solidFill>
                <a:latin typeface="Calibri" pitchFamily="34" charset="0"/>
                <a:ea typeface="Calibri" pitchFamily="34" charset="-122"/>
                <a:cs typeface="Calibri" pitchFamily="34" charset="-120"/>
              </a:rPr>
              <a:t>Converts goals into an actionable plan, so execution has a blueprint instead of improvisation.</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0A2E36"/>
          </a:solidFill>
          <a:ln/>
        </p:spPr>
      </p:sp>
      <p:sp>
        <p:nvSpPr>
          <p:cNvPr id="4" name="Text 2"/>
          <p:cNvSpPr/>
          <p:nvPr/>
        </p:nvSpPr>
        <p:spPr>
          <a:xfrm>
            <a:off x="502920" y="685800"/>
            <a:ext cx="2743200" cy="365760"/>
          </a:xfrm>
          <a:prstGeom prst="rect">
            <a:avLst/>
          </a:prstGeom>
          <a:noFill/>
          <a:ln/>
        </p:spPr>
        <p:txBody>
          <a:bodyPr wrap="square" rtlCol="0" anchor="ctr"/>
          <a:lstStyle/>
          <a:p>
            <a:pPr marL="0" indent="0">
              <a:buNone/>
            </a:pPr>
            <a:r>
              <a:rPr lang="en-US" sz="1400" b="1" kern="0" spc="400" dirty="0">
                <a:solidFill>
                  <a:srgbClr val="00A896"/>
                </a:solidFill>
                <a:latin typeface="Calibri" pitchFamily="34" charset="0"/>
                <a:ea typeface="Calibri" pitchFamily="34" charset="-122"/>
                <a:cs typeface="Calibri" pitchFamily="34" charset="-120"/>
              </a:rPr>
              <a:t>PHASE</a:t>
            </a:r>
            <a:endParaRPr lang="en-US" sz="1400" dirty="0"/>
          </a:p>
        </p:txBody>
      </p:sp>
      <p:sp>
        <p:nvSpPr>
          <p:cNvPr id="5" name="Text 3"/>
          <p:cNvSpPr/>
          <p:nvPr/>
        </p:nvSpPr>
        <p:spPr>
          <a:xfrm>
            <a:off x="411480" y="868680"/>
            <a:ext cx="3017520" cy="1828800"/>
          </a:xfrm>
          <a:prstGeom prst="rect">
            <a:avLst/>
          </a:prstGeom>
          <a:noFill/>
          <a:ln/>
        </p:spPr>
        <p:txBody>
          <a:bodyPr wrap="square" rtlCol="0" anchor="ctr"/>
          <a:lstStyle/>
          <a:p>
            <a:pPr marL="0" indent="0">
              <a:buNone/>
            </a:pPr>
            <a:r>
              <a:rPr lang="en-US" sz="12000" b="1" dirty="0">
                <a:solidFill>
                  <a:srgbClr val="FFFFFF"/>
                </a:solidFill>
                <a:latin typeface="Cambria" pitchFamily="34" charset="0"/>
                <a:ea typeface="Cambria" pitchFamily="34" charset="-122"/>
                <a:cs typeface="Cambria" pitchFamily="34" charset="-120"/>
              </a:rPr>
              <a:t>3</a:t>
            </a:r>
            <a:endParaRPr lang="en-US" sz="12000" dirty="0"/>
          </a:p>
        </p:txBody>
      </p:sp>
      <p:sp>
        <p:nvSpPr>
          <p:cNvPr id="6" name="Shape 4"/>
          <p:cNvSpPr/>
          <p:nvPr/>
        </p:nvSpPr>
        <p:spPr>
          <a:xfrm>
            <a:off x="525780" y="2903220"/>
            <a:ext cx="1051560" cy="1051560"/>
          </a:xfrm>
          <a:prstGeom prst="ellipse">
            <a:avLst/>
          </a:prstGeom>
          <a:solidFill>
            <a:srgbClr val="02C39A"/>
          </a:solidFill>
          <a:ln/>
        </p:spPr>
      </p:sp>
      <p:pic>
        <p:nvPicPr>
          <p:cNvPr id="7" name="Image 0" descr="preencoded.png"/>
          <p:cNvPicPr>
            <a:picLocks noChangeAspect="1"/>
          </p:cNvPicPr>
          <p:nvPr/>
        </p:nvPicPr>
        <p:blipFill>
          <a:blip r:embed="rId3"/>
          <a:stretch>
            <a:fillRect/>
          </a:stretch>
        </p:blipFill>
        <p:spPr>
          <a:xfrm>
            <a:off x="788670" y="3166110"/>
            <a:ext cx="525780" cy="525780"/>
          </a:xfrm>
          <a:prstGeom prst="rect">
            <a:avLst/>
          </a:prstGeom>
        </p:spPr>
      </p:pic>
      <p:sp>
        <p:nvSpPr>
          <p:cNvPr id="8" name="Text 5"/>
          <p:cNvSpPr/>
          <p:nvPr/>
        </p:nvSpPr>
        <p:spPr>
          <a:xfrm>
            <a:off x="457200" y="4114800"/>
            <a:ext cx="3017520" cy="914400"/>
          </a:xfrm>
          <a:prstGeom prst="rect">
            <a:avLst/>
          </a:prstGeom>
          <a:noFill/>
          <a:ln/>
        </p:spPr>
        <p:txBody>
          <a:bodyPr wrap="square" rtlCol="0" anchor="ctr"/>
          <a:lstStyle/>
          <a:p>
            <a:pPr marL="0" indent="0">
              <a:lnSpc>
                <a:spcPts val="2700"/>
              </a:lnSpc>
              <a:buNone/>
            </a:pPr>
            <a:r>
              <a:rPr lang="en-US" sz="2600" b="1" dirty="0">
                <a:solidFill>
                  <a:srgbClr val="FFFFFF"/>
                </a:solidFill>
                <a:latin typeface="Cambria" pitchFamily="34" charset="0"/>
                <a:ea typeface="Cambria" pitchFamily="34" charset="-122"/>
                <a:cs typeface="Cambria" pitchFamily="34" charset="-120"/>
              </a:rPr>
              <a:t>Execution</a:t>
            </a:r>
            <a:endParaRPr lang="en-US" sz="2600" dirty="0"/>
          </a:p>
        </p:txBody>
      </p:sp>
      <p:sp>
        <p:nvSpPr>
          <p:cNvPr id="9" name="Text 6"/>
          <p:cNvSpPr/>
          <p:nvPr/>
        </p:nvSpPr>
        <p:spPr>
          <a:xfrm>
            <a:off x="502920" y="5166360"/>
            <a:ext cx="2926080" cy="1097280"/>
          </a:xfrm>
          <a:prstGeom prst="rect">
            <a:avLst/>
          </a:prstGeom>
          <a:noFill/>
          <a:ln/>
        </p:spPr>
        <p:txBody>
          <a:bodyPr wrap="square" rtlCol="0" anchor="ctr"/>
          <a:lstStyle/>
          <a:p>
            <a:pPr marL="0" indent="0">
              <a:lnSpc>
                <a:spcPts val="1900"/>
              </a:lnSpc>
              <a:buNone/>
            </a:pPr>
            <a:r>
              <a:rPr lang="en-US" sz="1400" i="1" dirty="0">
                <a:solidFill>
                  <a:srgbClr val="B9D6D4"/>
                </a:solidFill>
                <a:latin typeface="Calibri" pitchFamily="34" charset="0"/>
                <a:ea typeface="Calibri" pitchFamily="34" charset="-122"/>
                <a:cs typeface="Calibri" pitchFamily="34" charset="-120"/>
              </a:rPr>
              <a:t>Carry out the plan and produce the project's actual deliverables.</a:t>
            </a:r>
            <a:endParaRPr lang="en-US" sz="1400" dirty="0"/>
          </a:p>
        </p:txBody>
      </p:sp>
      <p:sp>
        <p:nvSpPr>
          <p:cNvPr id="10" name="Shape 7"/>
          <p:cNvSpPr/>
          <p:nvPr/>
        </p:nvSpPr>
        <p:spPr>
          <a:xfrm>
            <a:off x="4160520" y="594360"/>
            <a:ext cx="3794760" cy="2743200"/>
          </a:xfrm>
          <a:prstGeom prst="roundRect">
            <a:avLst>
              <a:gd name="adj" fmla="val 3333"/>
            </a:avLst>
          </a:prstGeom>
          <a:solidFill>
            <a:srgbClr val="EAF4F3"/>
          </a:solidFill>
          <a:ln w="12700">
            <a:solidFill>
              <a:srgbClr val="D6E7E5"/>
            </a:solidFill>
            <a:prstDash val="solid"/>
          </a:ln>
        </p:spPr>
      </p:sp>
      <p:sp>
        <p:nvSpPr>
          <p:cNvPr id="11" name="Shape 8"/>
          <p:cNvSpPr/>
          <p:nvPr/>
        </p:nvSpPr>
        <p:spPr>
          <a:xfrm>
            <a:off x="4416552" y="868680"/>
            <a:ext cx="548640" cy="548640"/>
          </a:xfrm>
          <a:prstGeom prst="ellipse">
            <a:avLst/>
          </a:prstGeom>
          <a:solidFill>
            <a:srgbClr val="028090"/>
          </a:solidFill>
          <a:ln/>
        </p:spPr>
      </p:sp>
      <p:pic>
        <p:nvPicPr>
          <p:cNvPr id="12" name="Image 1" descr="preencoded.png"/>
          <p:cNvPicPr>
            <a:picLocks noChangeAspect="1"/>
          </p:cNvPicPr>
          <p:nvPr/>
        </p:nvPicPr>
        <p:blipFill>
          <a:blip r:embed="rId4"/>
          <a:stretch>
            <a:fillRect/>
          </a:stretch>
        </p:blipFill>
        <p:spPr>
          <a:xfrm>
            <a:off x="4562856" y="1014984"/>
            <a:ext cx="256032" cy="256032"/>
          </a:xfrm>
          <a:prstGeom prst="rect">
            <a:avLst/>
          </a:prstGeom>
        </p:spPr>
      </p:pic>
      <p:sp>
        <p:nvSpPr>
          <p:cNvPr id="13" name="Text 9"/>
          <p:cNvSpPr/>
          <p:nvPr/>
        </p:nvSpPr>
        <p:spPr>
          <a:xfrm>
            <a:off x="5093208" y="850392"/>
            <a:ext cx="2697480" cy="603504"/>
          </a:xfrm>
          <a:prstGeom prst="rect">
            <a:avLst/>
          </a:prstGeom>
          <a:noFill/>
          <a:ln/>
        </p:spPr>
        <p:txBody>
          <a:bodyPr wrap="square" lIns="0" tIns="0" rIns="0" bIns="0" rtlCol="0" anchor="ctr"/>
          <a:lstStyle/>
          <a:p>
            <a:pPr marL="0" indent="0">
              <a:buNone/>
            </a:pPr>
            <a:r>
              <a:rPr lang="en-US" sz="1550" b="1" dirty="0">
                <a:solidFill>
                  <a:srgbClr val="0A2E36"/>
                </a:solidFill>
                <a:latin typeface="Calibri" pitchFamily="34" charset="0"/>
                <a:ea typeface="Calibri" pitchFamily="34" charset="-122"/>
                <a:cs typeface="Calibri" pitchFamily="34" charset="-120"/>
              </a:rPr>
              <a:t>Purpose</a:t>
            </a:r>
            <a:endParaRPr lang="en-US" sz="1550" dirty="0"/>
          </a:p>
        </p:txBody>
      </p:sp>
      <p:sp>
        <p:nvSpPr>
          <p:cNvPr id="14" name="Text 10"/>
          <p:cNvSpPr/>
          <p:nvPr/>
        </p:nvSpPr>
        <p:spPr>
          <a:xfrm>
            <a:off x="4453128" y="1554480"/>
            <a:ext cx="3246120" cy="1600200"/>
          </a:xfrm>
          <a:prstGeom prst="rect">
            <a:avLst/>
          </a:prstGeom>
          <a:noFill/>
          <a:ln/>
        </p:spPr>
        <p:txBody>
          <a:bodyPr wrap="square" rtlCol="0" anchor="t"/>
          <a:lstStyle/>
          <a:p>
            <a:pPr marL="0" indent="0">
              <a:lnSpc>
                <a:spcPts val="1900"/>
              </a:lnSpc>
              <a:buNone/>
            </a:pPr>
            <a:r>
              <a:rPr lang="en-US" sz="1350" dirty="0">
                <a:solidFill>
                  <a:srgbClr val="1B2B2E"/>
                </a:solidFill>
                <a:latin typeface="Calibri" pitchFamily="34" charset="0"/>
                <a:ea typeface="Calibri" pitchFamily="34" charset="-122"/>
                <a:cs typeface="Calibri" pitchFamily="34" charset="-120"/>
              </a:rPr>
              <a:t>Do the planned work and create the results the project was chartered to deliver.</a:t>
            </a:r>
            <a:endParaRPr lang="en-US" sz="1350" dirty="0"/>
          </a:p>
        </p:txBody>
      </p:sp>
      <p:sp>
        <p:nvSpPr>
          <p:cNvPr id="15" name="Shape 11"/>
          <p:cNvSpPr/>
          <p:nvPr/>
        </p:nvSpPr>
        <p:spPr>
          <a:xfrm>
            <a:off x="8275320" y="594360"/>
            <a:ext cx="3794760" cy="2743200"/>
          </a:xfrm>
          <a:prstGeom prst="roundRect">
            <a:avLst>
              <a:gd name="adj" fmla="val 3333"/>
            </a:avLst>
          </a:prstGeom>
          <a:solidFill>
            <a:srgbClr val="F4F9F8"/>
          </a:solidFill>
          <a:ln w="12700">
            <a:solidFill>
              <a:srgbClr val="D6E7E5"/>
            </a:solidFill>
            <a:prstDash val="solid"/>
          </a:ln>
        </p:spPr>
      </p:sp>
      <p:sp>
        <p:nvSpPr>
          <p:cNvPr id="16" name="Shape 12"/>
          <p:cNvSpPr/>
          <p:nvPr/>
        </p:nvSpPr>
        <p:spPr>
          <a:xfrm>
            <a:off x="8531352" y="868680"/>
            <a:ext cx="548640" cy="548640"/>
          </a:xfrm>
          <a:prstGeom prst="ellipse">
            <a:avLst/>
          </a:prstGeom>
          <a:solidFill>
            <a:srgbClr val="00A896"/>
          </a:solidFill>
          <a:ln/>
        </p:spPr>
      </p:sp>
      <p:pic>
        <p:nvPicPr>
          <p:cNvPr id="17" name="Image 2" descr="preencoded.png"/>
          <p:cNvPicPr>
            <a:picLocks noChangeAspect="1"/>
          </p:cNvPicPr>
          <p:nvPr/>
        </p:nvPicPr>
        <p:blipFill>
          <a:blip r:embed="rId5"/>
          <a:stretch>
            <a:fillRect/>
          </a:stretch>
        </p:blipFill>
        <p:spPr>
          <a:xfrm>
            <a:off x="8677656" y="1014984"/>
            <a:ext cx="256032" cy="256032"/>
          </a:xfrm>
          <a:prstGeom prst="rect">
            <a:avLst/>
          </a:prstGeom>
        </p:spPr>
      </p:pic>
      <p:sp>
        <p:nvSpPr>
          <p:cNvPr id="18" name="Text 13"/>
          <p:cNvSpPr/>
          <p:nvPr/>
        </p:nvSpPr>
        <p:spPr>
          <a:xfrm>
            <a:off x="9208008" y="850392"/>
            <a:ext cx="2697480" cy="603504"/>
          </a:xfrm>
          <a:prstGeom prst="rect">
            <a:avLst/>
          </a:prstGeom>
          <a:noFill/>
          <a:ln/>
        </p:spPr>
        <p:txBody>
          <a:bodyPr wrap="square" lIns="0" tIns="0" rIns="0" bIns="0" rtlCol="0" anchor="ctr"/>
          <a:lstStyle/>
          <a:p>
            <a:pPr marL="0" indent="0">
              <a:buNone/>
            </a:pPr>
            <a:r>
              <a:rPr lang="en-US" sz="1550" b="1" dirty="0">
                <a:solidFill>
                  <a:srgbClr val="0A2E36"/>
                </a:solidFill>
                <a:latin typeface="Calibri" pitchFamily="34" charset="0"/>
                <a:ea typeface="Calibri" pitchFamily="34" charset="-122"/>
                <a:cs typeface="Calibri" pitchFamily="34" charset="-120"/>
              </a:rPr>
              <a:t>Key Tasks</a:t>
            </a:r>
            <a:endParaRPr lang="en-US" sz="1550" dirty="0"/>
          </a:p>
        </p:txBody>
      </p:sp>
      <p:sp>
        <p:nvSpPr>
          <p:cNvPr id="19" name="Text 14"/>
          <p:cNvSpPr/>
          <p:nvPr/>
        </p:nvSpPr>
        <p:spPr>
          <a:xfrm>
            <a:off x="8567928" y="1554480"/>
            <a:ext cx="3246120" cy="1600200"/>
          </a:xfrm>
          <a:prstGeom prst="rect">
            <a:avLst/>
          </a:prstGeom>
          <a:noFill/>
          <a:ln/>
        </p:spPr>
        <p:txBody>
          <a:bodyPr wrap="square" rtlCol="0" anchor="t"/>
          <a:lstStyle/>
          <a:p>
            <a:pPr marL="152400" indent="-152400">
              <a:lnSpc>
                <a:spcPts val="1700"/>
              </a:lnSpc>
              <a:spcAft>
                <a:spcPts val="600"/>
              </a:spcAft>
              <a:buSzPct val="100000"/>
              <a:buChar char="•"/>
            </a:pPr>
            <a:r>
              <a:rPr lang="en-US" sz="1300" dirty="0">
                <a:solidFill>
                  <a:srgbClr val="1B2B2E"/>
                </a:solidFill>
                <a:latin typeface="Calibri" pitchFamily="34" charset="0"/>
                <a:ea typeface="Calibri" pitchFamily="34" charset="-122"/>
                <a:cs typeface="Calibri" pitchFamily="34" charset="-120"/>
              </a:rPr>
              <a:t>Complete assigned tasks</a:t>
            </a:r>
            <a:endParaRPr lang="en-US" sz="1300" dirty="0"/>
          </a:p>
          <a:p>
            <a:pPr marL="152400" indent="-152400">
              <a:lnSpc>
                <a:spcPts val="1700"/>
              </a:lnSpc>
              <a:spcAft>
                <a:spcPts val="600"/>
              </a:spcAft>
              <a:buSzPct val="100000"/>
              <a:buChar char="•"/>
            </a:pPr>
            <a:r>
              <a:rPr lang="en-US" sz="1300" dirty="0">
                <a:solidFill>
                  <a:srgbClr val="1B2B2E"/>
                </a:solidFill>
                <a:latin typeface="Calibri" pitchFamily="34" charset="0"/>
                <a:ea typeface="Calibri" pitchFamily="34" charset="-122"/>
                <a:cs typeface="Calibri" pitchFamily="34" charset="-120"/>
              </a:rPr>
              <a:t>Coordinate the </a:t>
            </a:r>
            <a:r>
              <a:rPr lang="en-US" sz="1300" dirty="0" smtClean="0">
                <a:solidFill>
                  <a:srgbClr val="1B2B2E"/>
                </a:solidFill>
                <a:latin typeface="Calibri" pitchFamily="34" charset="0"/>
                <a:ea typeface="Calibri" pitchFamily="34" charset="-122"/>
                <a:cs typeface="Calibri" pitchFamily="34" charset="-120"/>
              </a:rPr>
              <a:t>team (</a:t>
            </a:r>
            <a:r>
              <a:rPr lang="en-US" sz="1300" dirty="0">
                <a:solidFill>
                  <a:srgbClr val="1B2B2E"/>
                </a:solidFill>
                <a:latin typeface="Calibri" pitchFamily="34" charset="0"/>
                <a:ea typeface="Calibri" pitchFamily="34" charset="-122"/>
                <a:cs typeface="Calibri" pitchFamily="34" charset="-120"/>
              </a:rPr>
              <a:t>PMI, </a:t>
            </a:r>
            <a:r>
              <a:rPr lang="en-US" sz="1300" dirty="0" err="1">
                <a:solidFill>
                  <a:srgbClr val="1B2B2E"/>
                </a:solidFill>
                <a:latin typeface="Calibri" pitchFamily="34" charset="0"/>
                <a:ea typeface="Calibri" pitchFamily="34" charset="-122"/>
                <a:cs typeface="Calibri" pitchFamily="34" charset="-120"/>
              </a:rPr>
              <a:t>n.d</a:t>
            </a:r>
            <a:r>
              <a:rPr lang="en-US" sz="1300" dirty="0" smtClean="0">
                <a:solidFill>
                  <a:srgbClr val="1B2B2E"/>
                </a:solidFill>
                <a:latin typeface="Calibri" pitchFamily="34" charset="0"/>
                <a:ea typeface="Calibri" pitchFamily="34" charset="-122"/>
                <a:cs typeface="Calibri" pitchFamily="34" charset="-120"/>
              </a:rPr>
              <a:t>).</a:t>
            </a:r>
            <a:endParaRPr lang="en-US" sz="1300" dirty="0"/>
          </a:p>
          <a:p>
            <a:pPr marL="152400" indent="-152400">
              <a:lnSpc>
                <a:spcPts val="1700"/>
              </a:lnSpc>
              <a:spcAft>
                <a:spcPts val="600"/>
              </a:spcAft>
              <a:buSzPct val="100000"/>
              <a:buChar char="•"/>
            </a:pPr>
            <a:r>
              <a:rPr lang="en-US" sz="1300" dirty="0">
                <a:solidFill>
                  <a:srgbClr val="1B2B2E"/>
                </a:solidFill>
                <a:latin typeface="Calibri" pitchFamily="34" charset="0"/>
                <a:ea typeface="Calibri" pitchFamily="34" charset="-122"/>
                <a:cs typeface="Calibri" pitchFamily="34" charset="-120"/>
              </a:rPr>
              <a:t>Produce deliverables</a:t>
            </a:r>
            <a:endParaRPr lang="en-US" sz="1300" dirty="0"/>
          </a:p>
          <a:p>
            <a:pPr marL="152400" indent="-152400">
              <a:lnSpc>
                <a:spcPts val="1700"/>
              </a:lnSpc>
              <a:spcAft>
                <a:spcPts val="600"/>
              </a:spcAft>
              <a:buSzPct val="100000"/>
              <a:buChar char="•"/>
            </a:pPr>
            <a:r>
              <a:rPr lang="en-US" sz="1300" dirty="0">
                <a:solidFill>
                  <a:srgbClr val="1B2B2E"/>
                </a:solidFill>
                <a:latin typeface="Calibri" pitchFamily="34" charset="0"/>
                <a:ea typeface="Calibri" pitchFamily="34" charset="-122"/>
                <a:cs typeface="Calibri" pitchFamily="34" charset="-120"/>
              </a:rPr>
              <a:t>Keep stakeholders informed</a:t>
            </a:r>
            <a:endParaRPr lang="en-US" sz="1300" dirty="0"/>
          </a:p>
        </p:txBody>
      </p:sp>
      <p:sp>
        <p:nvSpPr>
          <p:cNvPr id="20" name="Shape 15"/>
          <p:cNvSpPr/>
          <p:nvPr/>
        </p:nvSpPr>
        <p:spPr>
          <a:xfrm>
            <a:off x="4160520" y="3657600"/>
            <a:ext cx="3794760" cy="2743200"/>
          </a:xfrm>
          <a:prstGeom prst="roundRect">
            <a:avLst>
              <a:gd name="adj" fmla="val 3333"/>
            </a:avLst>
          </a:prstGeom>
          <a:solidFill>
            <a:srgbClr val="F4F9F8"/>
          </a:solidFill>
          <a:ln w="12700">
            <a:solidFill>
              <a:srgbClr val="D6E7E5"/>
            </a:solidFill>
            <a:prstDash val="solid"/>
          </a:ln>
        </p:spPr>
      </p:sp>
      <p:sp>
        <p:nvSpPr>
          <p:cNvPr id="21" name="Shape 16"/>
          <p:cNvSpPr/>
          <p:nvPr/>
        </p:nvSpPr>
        <p:spPr>
          <a:xfrm>
            <a:off x="4416552" y="3931920"/>
            <a:ext cx="548640" cy="548640"/>
          </a:xfrm>
          <a:prstGeom prst="ellipse">
            <a:avLst/>
          </a:prstGeom>
          <a:solidFill>
            <a:srgbClr val="00A896"/>
          </a:solidFill>
          <a:ln/>
        </p:spPr>
      </p:sp>
      <p:pic>
        <p:nvPicPr>
          <p:cNvPr id="22" name="Image 3" descr="preencoded.png"/>
          <p:cNvPicPr>
            <a:picLocks noChangeAspect="1"/>
          </p:cNvPicPr>
          <p:nvPr/>
        </p:nvPicPr>
        <p:blipFill>
          <a:blip r:embed="rId6"/>
          <a:stretch>
            <a:fillRect/>
          </a:stretch>
        </p:blipFill>
        <p:spPr>
          <a:xfrm>
            <a:off x="4562856" y="4078224"/>
            <a:ext cx="256032" cy="256032"/>
          </a:xfrm>
          <a:prstGeom prst="rect">
            <a:avLst/>
          </a:prstGeom>
        </p:spPr>
      </p:pic>
      <p:sp>
        <p:nvSpPr>
          <p:cNvPr id="23" name="Text 17"/>
          <p:cNvSpPr/>
          <p:nvPr/>
        </p:nvSpPr>
        <p:spPr>
          <a:xfrm>
            <a:off x="5093208" y="3913632"/>
            <a:ext cx="2697480" cy="603504"/>
          </a:xfrm>
          <a:prstGeom prst="rect">
            <a:avLst/>
          </a:prstGeom>
          <a:noFill/>
          <a:ln/>
        </p:spPr>
        <p:txBody>
          <a:bodyPr wrap="square" lIns="0" tIns="0" rIns="0" bIns="0" rtlCol="0" anchor="ctr"/>
          <a:lstStyle/>
          <a:p>
            <a:pPr marL="0" indent="0">
              <a:buNone/>
            </a:pPr>
            <a:r>
              <a:rPr lang="en-US" sz="1550" b="1" dirty="0">
                <a:solidFill>
                  <a:srgbClr val="0A2E36"/>
                </a:solidFill>
                <a:latin typeface="Calibri" pitchFamily="34" charset="0"/>
                <a:ea typeface="Calibri" pitchFamily="34" charset="-122"/>
                <a:cs typeface="Calibri" pitchFamily="34" charset="-120"/>
              </a:rPr>
              <a:t>Resources Needed</a:t>
            </a:r>
            <a:endParaRPr lang="en-US" sz="1550" dirty="0"/>
          </a:p>
        </p:txBody>
      </p:sp>
      <p:sp>
        <p:nvSpPr>
          <p:cNvPr id="24" name="Text 18"/>
          <p:cNvSpPr/>
          <p:nvPr/>
        </p:nvSpPr>
        <p:spPr>
          <a:xfrm>
            <a:off x="4453128" y="4617720"/>
            <a:ext cx="3246120" cy="1600200"/>
          </a:xfrm>
          <a:prstGeom prst="rect">
            <a:avLst/>
          </a:prstGeom>
          <a:noFill/>
          <a:ln/>
        </p:spPr>
        <p:txBody>
          <a:bodyPr wrap="square" rtlCol="0" anchor="t"/>
          <a:lstStyle/>
          <a:p>
            <a:pPr marL="152400" indent="-152400">
              <a:lnSpc>
                <a:spcPts val="1700"/>
              </a:lnSpc>
              <a:spcAft>
                <a:spcPts val="600"/>
              </a:spcAft>
              <a:buSzPct val="100000"/>
              <a:buChar char="•"/>
            </a:pPr>
            <a:r>
              <a:rPr lang="en-US" sz="1300" dirty="0">
                <a:solidFill>
                  <a:srgbClr val="1B2B2E"/>
                </a:solidFill>
                <a:latin typeface="Calibri" pitchFamily="34" charset="0"/>
                <a:ea typeface="Calibri" pitchFamily="34" charset="-122"/>
                <a:cs typeface="Calibri" pitchFamily="34" charset="-120"/>
              </a:rPr>
              <a:t>Full project team</a:t>
            </a:r>
            <a:endParaRPr lang="en-US" sz="1300" dirty="0"/>
          </a:p>
          <a:p>
            <a:pPr marL="152400" indent="-152400">
              <a:lnSpc>
                <a:spcPts val="1700"/>
              </a:lnSpc>
              <a:spcAft>
                <a:spcPts val="600"/>
              </a:spcAft>
              <a:buSzPct val="100000"/>
              <a:buChar char="•"/>
            </a:pPr>
            <a:r>
              <a:rPr lang="en-US" sz="1300" dirty="0">
                <a:solidFill>
                  <a:srgbClr val="1B2B2E"/>
                </a:solidFill>
                <a:latin typeface="Calibri" pitchFamily="34" charset="0"/>
                <a:ea typeface="Calibri" pitchFamily="34" charset="-122"/>
                <a:cs typeface="Calibri" pitchFamily="34" charset="-120"/>
              </a:rPr>
              <a:t>Functional-area staff</a:t>
            </a:r>
            <a:endParaRPr lang="en-US" sz="1300" dirty="0"/>
          </a:p>
          <a:p>
            <a:pPr marL="152400" indent="-152400">
              <a:lnSpc>
                <a:spcPts val="1700"/>
              </a:lnSpc>
              <a:spcAft>
                <a:spcPts val="600"/>
              </a:spcAft>
              <a:buSzPct val="100000"/>
              <a:buChar char="•"/>
            </a:pPr>
            <a:r>
              <a:rPr lang="en-US" sz="1300" dirty="0">
                <a:solidFill>
                  <a:srgbClr val="1B2B2E"/>
                </a:solidFill>
                <a:latin typeface="Calibri" pitchFamily="34" charset="0"/>
                <a:ea typeface="Calibri" pitchFamily="34" charset="-122"/>
                <a:cs typeface="Calibri" pitchFamily="34" charset="-120"/>
              </a:rPr>
              <a:t>Budget, materials &amp; tools</a:t>
            </a:r>
            <a:endParaRPr lang="en-US" sz="1300" dirty="0"/>
          </a:p>
          <a:p>
            <a:pPr marL="152400" indent="-152400">
              <a:lnSpc>
                <a:spcPts val="1700"/>
              </a:lnSpc>
              <a:spcAft>
                <a:spcPts val="600"/>
              </a:spcAft>
              <a:buSzPct val="100000"/>
              <a:buChar char="•"/>
            </a:pPr>
            <a:r>
              <a:rPr lang="en-US" sz="1300" dirty="0">
                <a:solidFill>
                  <a:srgbClr val="1B2B2E"/>
                </a:solidFill>
                <a:latin typeface="Calibri" pitchFamily="34" charset="0"/>
                <a:ea typeface="Calibri" pitchFamily="34" charset="-122"/>
                <a:cs typeface="Calibri" pitchFamily="34" charset="-120"/>
              </a:rPr>
              <a:t>External contributors</a:t>
            </a:r>
            <a:endParaRPr lang="en-US" sz="1300" dirty="0"/>
          </a:p>
        </p:txBody>
      </p:sp>
      <p:sp>
        <p:nvSpPr>
          <p:cNvPr id="25" name="Shape 19"/>
          <p:cNvSpPr/>
          <p:nvPr/>
        </p:nvSpPr>
        <p:spPr>
          <a:xfrm>
            <a:off x="8275320" y="3657600"/>
            <a:ext cx="3794760" cy="2743200"/>
          </a:xfrm>
          <a:prstGeom prst="roundRect">
            <a:avLst>
              <a:gd name="adj" fmla="val 3333"/>
            </a:avLst>
          </a:prstGeom>
          <a:solidFill>
            <a:srgbClr val="F4F9F8"/>
          </a:solidFill>
          <a:ln w="12700">
            <a:solidFill>
              <a:srgbClr val="D6E7E5"/>
            </a:solidFill>
            <a:prstDash val="solid"/>
          </a:ln>
        </p:spPr>
      </p:sp>
      <p:sp>
        <p:nvSpPr>
          <p:cNvPr id="26" name="Shape 20"/>
          <p:cNvSpPr/>
          <p:nvPr/>
        </p:nvSpPr>
        <p:spPr>
          <a:xfrm>
            <a:off x="8531352" y="3931920"/>
            <a:ext cx="548640" cy="548640"/>
          </a:xfrm>
          <a:prstGeom prst="ellipse">
            <a:avLst/>
          </a:prstGeom>
          <a:solidFill>
            <a:srgbClr val="028090"/>
          </a:solidFill>
          <a:ln/>
        </p:spPr>
      </p:sp>
      <p:pic>
        <p:nvPicPr>
          <p:cNvPr id="27" name="Image 4" descr="preencoded.png"/>
          <p:cNvPicPr>
            <a:picLocks noChangeAspect="1"/>
          </p:cNvPicPr>
          <p:nvPr/>
        </p:nvPicPr>
        <p:blipFill>
          <a:blip r:embed="rId7"/>
          <a:stretch>
            <a:fillRect/>
          </a:stretch>
        </p:blipFill>
        <p:spPr>
          <a:xfrm>
            <a:off x="8677656" y="4078224"/>
            <a:ext cx="256032" cy="256032"/>
          </a:xfrm>
          <a:prstGeom prst="rect">
            <a:avLst/>
          </a:prstGeom>
        </p:spPr>
      </p:pic>
      <p:sp>
        <p:nvSpPr>
          <p:cNvPr id="28" name="Text 21"/>
          <p:cNvSpPr/>
          <p:nvPr/>
        </p:nvSpPr>
        <p:spPr>
          <a:xfrm>
            <a:off x="9208008" y="3913632"/>
            <a:ext cx="2697480" cy="603504"/>
          </a:xfrm>
          <a:prstGeom prst="rect">
            <a:avLst/>
          </a:prstGeom>
          <a:noFill/>
          <a:ln/>
        </p:spPr>
        <p:txBody>
          <a:bodyPr wrap="square" lIns="0" tIns="0" rIns="0" bIns="0" rtlCol="0" anchor="ctr"/>
          <a:lstStyle/>
          <a:p>
            <a:pPr marL="0" indent="0">
              <a:buNone/>
            </a:pPr>
            <a:r>
              <a:rPr lang="en-US" sz="1550" b="1" dirty="0">
                <a:solidFill>
                  <a:srgbClr val="0A2E36"/>
                </a:solidFill>
                <a:latin typeface="Calibri" pitchFamily="34" charset="0"/>
                <a:ea typeface="Calibri" pitchFamily="34" charset="-122"/>
                <a:cs typeface="Calibri" pitchFamily="34" charset="-120"/>
              </a:rPr>
              <a:t>Moves the Project Forward</a:t>
            </a:r>
            <a:endParaRPr lang="en-US" sz="1550" dirty="0"/>
          </a:p>
        </p:txBody>
      </p:sp>
      <p:sp>
        <p:nvSpPr>
          <p:cNvPr id="29" name="Text 22"/>
          <p:cNvSpPr/>
          <p:nvPr/>
        </p:nvSpPr>
        <p:spPr>
          <a:xfrm>
            <a:off x="8567928" y="4617720"/>
            <a:ext cx="3246120" cy="1600200"/>
          </a:xfrm>
          <a:prstGeom prst="rect">
            <a:avLst/>
          </a:prstGeom>
          <a:noFill/>
          <a:ln/>
        </p:spPr>
        <p:txBody>
          <a:bodyPr wrap="square" rtlCol="0" anchor="t"/>
          <a:lstStyle/>
          <a:p>
            <a:pPr marL="0" indent="0">
              <a:lnSpc>
                <a:spcPts val="1900"/>
              </a:lnSpc>
              <a:buNone/>
            </a:pPr>
            <a:r>
              <a:rPr lang="en-US" sz="1350" dirty="0">
                <a:solidFill>
                  <a:srgbClr val="1B2B2E"/>
                </a:solidFill>
                <a:latin typeface="Calibri" pitchFamily="34" charset="0"/>
                <a:ea typeface="Calibri" pitchFamily="34" charset="-122"/>
                <a:cs typeface="Calibri" pitchFamily="34" charset="-120"/>
              </a:rPr>
              <a:t>Transforms the plan into tangible results — this is where objectives actually get met.</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0A2E36"/>
          </a:solidFill>
          <a:ln/>
        </p:spPr>
      </p:sp>
      <p:sp>
        <p:nvSpPr>
          <p:cNvPr id="4" name="Text 2"/>
          <p:cNvSpPr/>
          <p:nvPr/>
        </p:nvSpPr>
        <p:spPr>
          <a:xfrm>
            <a:off x="502920" y="685800"/>
            <a:ext cx="2743200" cy="365760"/>
          </a:xfrm>
          <a:prstGeom prst="rect">
            <a:avLst/>
          </a:prstGeom>
          <a:noFill/>
          <a:ln/>
        </p:spPr>
        <p:txBody>
          <a:bodyPr wrap="square" rtlCol="0" anchor="ctr"/>
          <a:lstStyle/>
          <a:p>
            <a:pPr marL="0" indent="0">
              <a:buNone/>
            </a:pPr>
            <a:r>
              <a:rPr lang="en-US" sz="1400" b="1" kern="0" spc="400" dirty="0">
                <a:solidFill>
                  <a:srgbClr val="00A896"/>
                </a:solidFill>
                <a:latin typeface="Calibri" pitchFamily="34" charset="0"/>
                <a:ea typeface="Calibri" pitchFamily="34" charset="-122"/>
                <a:cs typeface="Calibri" pitchFamily="34" charset="-120"/>
              </a:rPr>
              <a:t>PHASE</a:t>
            </a:r>
            <a:endParaRPr lang="en-US" sz="1400" dirty="0"/>
          </a:p>
        </p:txBody>
      </p:sp>
      <p:sp>
        <p:nvSpPr>
          <p:cNvPr id="5" name="Text 3"/>
          <p:cNvSpPr/>
          <p:nvPr/>
        </p:nvSpPr>
        <p:spPr>
          <a:xfrm>
            <a:off x="411480" y="868680"/>
            <a:ext cx="3017520" cy="1828800"/>
          </a:xfrm>
          <a:prstGeom prst="rect">
            <a:avLst/>
          </a:prstGeom>
          <a:noFill/>
          <a:ln/>
        </p:spPr>
        <p:txBody>
          <a:bodyPr wrap="square" rtlCol="0" anchor="ctr"/>
          <a:lstStyle/>
          <a:p>
            <a:pPr marL="0" indent="0">
              <a:buNone/>
            </a:pPr>
            <a:r>
              <a:rPr lang="en-US" sz="12000" b="1" dirty="0">
                <a:solidFill>
                  <a:srgbClr val="FFFFFF"/>
                </a:solidFill>
                <a:latin typeface="Cambria" pitchFamily="34" charset="0"/>
                <a:ea typeface="Cambria" pitchFamily="34" charset="-122"/>
                <a:cs typeface="Cambria" pitchFamily="34" charset="-120"/>
              </a:rPr>
              <a:t>4</a:t>
            </a:r>
            <a:endParaRPr lang="en-US" sz="12000" dirty="0"/>
          </a:p>
        </p:txBody>
      </p:sp>
      <p:sp>
        <p:nvSpPr>
          <p:cNvPr id="6" name="Shape 4"/>
          <p:cNvSpPr/>
          <p:nvPr/>
        </p:nvSpPr>
        <p:spPr>
          <a:xfrm>
            <a:off x="525780" y="2903220"/>
            <a:ext cx="1051560" cy="1051560"/>
          </a:xfrm>
          <a:prstGeom prst="ellipse">
            <a:avLst/>
          </a:prstGeom>
          <a:solidFill>
            <a:srgbClr val="02C39A"/>
          </a:solidFill>
          <a:ln/>
        </p:spPr>
      </p:sp>
      <p:pic>
        <p:nvPicPr>
          <p:cNvPr id="7" name="Image 0" descr="preencoded.png"/>
          <p:cNvPicPr>
            <a:picLocks noChangeAspect="1"/>
          </p:cNvPicPr>
          <p:nvPr/>
        </p:nvPicPr>
        <p:blipFill>
          <a:blip r:embed="rId3"/>
          <a:stretch>
            <a:fillRect/>
          </a:stretch>
        </p:blipFill>
        <p:spPr>
          <a:xfrm>
            <a:off x="788670" y="3166110"/>
            <a:ext cx="525780" cy="525780"/>
          </a:xfrm>
          <a:prstGeom prst="rect">
            <a:avLst/>
          </a:prstGeom>
        </p:spPr>
      </p:pic>
      <p:sp>
        <p:nvSpPr>
          <p:cNvPr id="8" name="Text 5"/>
          <p:cNvSpPr/>
          <p:nvPr/>
        </p:nvSpPr>
        <p:spPr>
          <a:xfrm>
            <a:off x="457200" y="4114800"/>
            <a:ext cx="3017520" cy="914400"/>
          </a:xfrm>
          <a:prstGeom prst="rect">
            <a:avLst/>
          </a:prstGeom>
          <a:noFill/>
          <a:ln/>
        </p:spPr>
        <p:txBody>
          <a:bodyPr wrap="square" rtlCol="0" anchor="ctr"/>
          <a:lstStyle/>
          <a:p>
            <a:pPr marL="0" indent="0">
              <a:lnSpc>
                <a:spcPts val="2700"/>
              </a:lnSpc>
              <a:buNone/>
            </a:pPr>
            <a:r>
              <a:rPr lang="en-US" sz="2600" b="1" dirty="0">
                <a:solidFill>
                  <a:srgbClr val="FFFFFF"/>
                </a:solidFill>
                <a:latin typeface="Cambria" pitchFamily="34" charset="0"/>
                <a:ea typeface="Cambria" pitchFamily="34" charset="-122"/>
                <a:cs typeface="Cambria" pitchFamily="34" charset="-120"/>
              </a:rPr>
              <a:t>Monitoring &amp; Controlling</a:t>
            </a:r>
            <a:endParaRPr lang="en-US" sz="2600" dirty="0"/>
          </a:p>
        </p:txBody>
      </p:sp>
      <p:sp>
        <p:nvSpPr>
          <p:cNvPr id="9" name="Text 6"/>
          <p:cNvSpPr/>
          <p:nvPr/>
        </p:nvSpPr>
        <p:spPr>
          <a:xfrm>
            <a:off x="502920" y="5166360"/>
            <a:ext cx="2926080" cy="1097280"/>
          </a:xfrm>
          <a:prstGeom prst="rect">
            <a:avLst/>
          </a:prstGeom>
          <a:noFill/>
          <a:ln/>
        </p:spPr>
        <p:txBody>
          <a:bodyPr wrap="square" rtlCol="0" anchor="ctr"/>
          <a:lstStyle/>
          <a:p>
            <a:pPr marL="0" indent="0">
              <a:lnSpc>
                <a:spcPts val="1900"/>
              </a:lnSpc>
              <a:buNone/>
            </a:pPr>
            <a:r>
              <a:rPr lang="en-US" sz="1400" i="1" dirty="0">
                <a:solidFill>
                  <a:srgbClr val="B9D6D4"/>
                </a:solidFill>
                <a:latin typeface="Calibri" pitchFamily="34" charset="0"/>
                <a:ea typeface="Calibri" pitchFamily="34" charset="-122"/>
                <a:cs typeface="Calibri" pitchFamily="34" charset="-120"/>
              </a:rPr>
              <a:t>Track progress against the plan and steer the project back on </a:t>
            </a:r>
            <a:r>
              <a:rPr lang="en-US" sz="1400" i="1" dirty="0" smtClean="0">
                <a:solidFill>
                  <a:srgbClr val="B9D6D4"/>
                </a:solidFill>
                <a:latin typeface="Calibri" pitchFamily="34" charset="0"/>
                <a:ea typeface="Calibri" pitchFamily="34" charset="-122"/>
                <a:cs typeface="Calibri" pitchFamily="34" charset="-120"/>
              </a:rPr>
              <a:t>course</a:t>
            </a:r>
            <a:r>
              <a:rPr lang="en-US" sz="1400" i="1" dirty="0">
                <a:solidFill>
                  <a:srgbClr val="B9D6D4"/>
                </a:solidFill>
                <a:latin typeface="Calibri" pitchFamily="34" charset="0"/>
                <a:ea typeface="Calibri" pitchFamily="34" charset="-122"/>
                <a:cs typeface="Calibri" pitchFamily="34" charset="-120"/>
              </a:rPr>
              <a:t>.</a:t>
            </a:r>
            <a:endParaRPr lang="en-US" sz="1400" dirty="0"/>
          </a:p>
        </p:txBody>
      </p:sp>
      <p:sp>
        <p:nvSpPr>
          <p:cNvPr id="10" name="Shape 7"/>
          <p:cNvSpPr/>
          <p:nvPr/>
        </p:nvSpPr>
        <p:spPr>
          <a:xfrm>
            <a:off x="4160520" y="594360"/>
            <a:ext cx="3794760" cy="2743200"/>
          </a:xfrm>
          <a:prstGeom prst="roundRect">
            <a:avLst>
              <a:gd name="adj" fmla="val 3333"/>
            </a:avLst>
          </a:prstGeom>
          <a:solidFill>
            <a:srgbClr val="EAF4F3"/>
          </a:solidFill>
          <a:ln w="12700">
            <a:solidFill>
              <a:srgbClr val="D6E7E5"/>
            </a:solidFill>
            <a:prstDash val="solid"/>
          </a:ln>
        </p:spPr>
      </p:sp>
      <p:sp>
        <p:nvSpPr>
          <p:cNvPr id="11" name="Shape 8"/>
          <p:cNvSpPr/>
          <p:nvPr/>
        </p:nvSpPr>
        <p:spPr>
          <a:xfrm>
            <a:off x="4416552" y="868680"/>
            <a:ext cx="548640" cy="548640"/>
          </a:xfrm>
          <a:prstGeom prst="ellipse">
            <a:avLst/>
          </a:prstGeom>
          <a:solidFill>
            <a:srgbClr val="028090"/>
          </a:solidFill>
          <a:ln/>
        </p:spPr>
      </p:sp>
      <p:pic>
        <p:nvPicPr>
          <p:cNvPr id="12" name="Image 1" descr="preencoded.png"/>
          <p:cNvPicPr>
            <a:picLocks noChangeAspect="1"/>
          </p:cNvPicPr>
          <p:nvPr/>
        </p:nvPicPr>
        <p:blipFill>
          <a:blip r:embed="rId4"/>
          <a:stretch>
            <a:fillRect/>
          </a:stretch>
        </p:blipFill>
        <p:spPr>
          <a:xfrm>
            <a:off x="4562856" y="1014984"/>
            <a:ext cx="256032" cy="256032"/>
          </a:xfrm>
          <a:prstGeom prst="rect">
            <a:avLst/>
          </a:prstGeom>
        </p:spPr>
      </p:pic>
      <p:sp>
        <p:nvSpPr>
          <p:cNvPr id="13" name="Text 9"/>
          <p:cNvSpPr/>
          <p:nvPr/>
        </p:nvSpPr>
        <p:spPr>
          <a:xfrm>
            <a:off x="5093208" y="850392"/>
            <a:ext cx="2697480" cy="603504"/>
          </a:xfrm>
          <a:prstGeom prst="rect">
            <a:avLst/>
          </a:prstGeom>
          <a:noFill/>
          <a:ln/>
        </p:spPr>
        <p:txBody>
          <a:bodyPr wrap="square" lIns="0" tIns="0" rIns="0" bIns="0" rtlCol="0" anchor="ctr"/>
          <a:lstStyle/>
          <a:p>
            <a:pPr marL="0" indent="0">
              <a:buNone/>
            </a:pPr>
            <a:r>
              <a:rPr lang="en-US" sz="1550" b="1" dirty="0">
                <a:solidFill>
                  <a:srgbClr val="0A2E36"/>
                </a:solidFill>
                <a:latin typeface="Calibri" pitchFamily="34" charset="0"/>
                <a:ea typeface="Calibri" pitchFamily="34" charset="-122"/>
                <a:cs typeface="Calibri" pitchFamily="34" charset="-120"/>
              </a:rPr>
              <a:t>Purpose</a:t>
            </a:r>
            <a:endParaRPr lang="en-US" sz="1550" dirty="0"/>
          </a:p>
        </p:txBody>
      </p:sp>
      <p:sp>
        <p:nvSpPr>
          <p:cNvPr id="14" name="Text 10"/>
          <p:cNvSpPr/>
          <p:nvPr/>
        </p:nvSpPr>
        <p:spPr>
          <a:xfrm>
            <a:off x="4453128" y="1554480"/>
            <a:ext cx="3246120" cy="1600200"/>
          </a:xfrm>
          <a:prstGeom prst="rect">
            <a:avLst/>
          </a:prstGeom>
          <a:noFill/>
          <a:ln/>
        </p:spPr>
        <p:txBody>
          <a:bodyPr wrap="square" rtlCol="0" anchor="t"/>
          <a:lstStyle/>
          <a:p>
            <a:pPr marL="0" indent="0">
              <a:lnSpc>
                <a:spcPts val="1900"/>
              </a:lnSpc>
              <a:buNone/>
            </a:pPr>
            <a:r>
              <a:rPr lang="en-US" sz="1350" dirty="0">
                <a:solidFill>
                  <a:srgbClr val="1B2B2E"/>
                </a:solidFill>
                <a:latin typeface="Calibri" pitchFamily="34" charset="0"/>
                <a:ea typeface="Calibri" pitchFamily="34" charset="-122"/>
                <a:cs typeface="Calibri" pitchFamily="34" charset="-120"/>
              </a:rPr>
              <a:t>Compare actual progress to the plan and take corrective </a:t>
            </a:r>
            <a:r>
              <a:rPr lang="en-US" sz="1350" dirty="0" smtClean="0">
                <a:solidFill>
                  <a:srgbClr val="1B2B2E"/>
                </a:solidFill>
                <a:latin typeface="Calibri" pitchFamily="34" charset="0"/>
                <a:ea typeface="Calibri" pitchFamily="34" charset="-122"/>
                <a:cs typeface="Calibri" pitchFamily="34" charset="-120"/>
              </a:rPr>
              <a:t>action whenever necessary.</a:t>
            </a:r>
            <a:endParaRPr lang="en-US" sz="1350" dirty="0"/>
          </a:p>
        </p:txBody>
      </p:sp>
      <p:sp>
        <p:nvSpPr>
          <p:cNvPr id="15" name="Shape 11"/>
          <p:cNvSpPr/>
          <p:nvPr/>
        </p:nvSpPr>
        <p:spPr>
          <a:xfrm>
            <a:off x="8275320" y="594360"/>
            <a:ext cx="3794760" cy="2743200"/>
          </a:xfrm>
          <a:prstGeom prst="roundRect">
            <a:avLst>
              <a:gd name="adj" fmla="val 3333"/>
            </a:avLst>
          </a:prstGeom>
          <a:solidFill>
            <a:srgbClr val="F4F9F8"/>
          </a:solidFill>
          <a:ln w="12700">
            <a:solidFill>
              <a:srgbClr val="D6E7E5"/>
            </a:solidFill>
            <a:prstDash val="solid"/>
          </a:ln>
        </p:spPr>
      </p:sp>
      <p:sp>
        <p:nvSpPr>
          <p:cNvPr id="16" name="Shape 12"/>
          <p:cNvSpPr/>
          <p:nvPr/>
        </p:nvSpPr>
        <p:spPr>
          <a:xfrm>
            <a:off x="8531352" y="868680"/>
            <a:ext cx="548640" cy="548640"/>
          </a:xfrm>
          <a:prstGeom prst="ellipse">
            <a:avLst/>
          </a:prstGeom>
          <a:solidFill>
            <a:srgbClr val="00A896"/>
          </a:solidFill>
          <a:ln/>
        </p:spPr>
      </p:sp>
      <p:pic>
        <p:nvPicPr>
          <p:cNvPr id="17" name="Image 2" descr="preencoded.png"/>
          <p:cNvPicPr>
            <a:picLocks noChangeAspect="1"/>
          </p:cNvPicPr>
          <p:nvPr/>
        </p:nvPicPr>
        <p:blipFill>
          <a:blip r:embed="rId5"/>
          <a:stretch>
            <a:fillRect/>
          </a:stretch>
        </p:blipFill>
        <p:spPr>
          <a:xfrm>
            <a:off x="8677656" y="1014984"/>
            <a:ext cx="256032" cy="256032"/>
          </a:xfrm>
          <a:prstGeom prst="rect">
            <a:avLst/>
          </a:prstGeom>
        </p:spPr>
      </p:pic>
      <p:sp>
        <p:nvSpPr>
          <p:cNvPr id="18" name="Text 13"/>
          <p:cNvSpPr/>
          <p:nvPr/>
        </p:nvSpPr>
        <p:spPr>
          <a:xfrm>
            <a:off x="9208008" y="850392"/>
            <a:ext cx="2697480" cy="603504"/>
          </a:xfrm>
          <a:prstGeom prst="rect">
            <a:avLst/>
          </a:prstGeom>
          <a:noFill/>
          <a:ln/>
        </p:spPr>
        <p:txBody>
          <a:bodyPr wrap="square" lIns="0" tIns="0" rIns="0" bIns="0" rtlCol="0" anchor="ctr"/>
          <a:lstStyle/>
          <a:p>
            <a:pPr marL="0" indent="0">
              <a:buNone/>
            </a:pPr>
            <a:r>
              <a:rPr lang="en-US" sz="1550" b="1" dirty="0">
                <a:solidFill>
                  <a:srgbClr val="0A2E36"/>
                </a:solidFill>
                <a:latin typeface="Calibri" pitchFamily="34" charset="0"/>
                <a:ea typeface="Calibri" pitchFamily="34" charset="-122"/>
                <a:cs typeface="Calibri" pitchFamily="34" charset="-120"/>
              </a:rPr>
              <a:t>Key Tasks</a:t>
            </a:r>
            <a:endParaRPr lang="en-US" sz="1550" dirty="0"/>
          </a:p>
        </p:txBody>
      </p:sp>
      <p:sp>
        <p:nvSpPr>
          <p:cNvPr id="19" name="Text 14"/>
          <p:cNvSpPr/>
          <p:nvPr/>
        </p:nvSpPr>
        <p:spPr>
          <a:xfrm>
            <a:off x="8567928" y="1554480"/>
            <a:ext cx="3246120" cy="1600200"/>
          </a:xfrm>
          <a:prstGeom prst="rect">
            <a:avLst/>
          </a:prstGeom>
          <a:noFill/>
          <a:ln/>
        </p:spPr>
        <p:txBody>
          <a:bodyPr wrap="square" rtlCol="0" anchor="t"/>
          <a:lstStyle/>
          <a:p>
            <a:pPr marL="152400" indent="-152400">
              <a:lnSpc>
                <a:spcPts val="1700"/>
              </a:lnSpc>
              <a:spcAft>
                <a:spcPts val="600"/>
              </a:spcAft>
              <a:buSzPct val="100000"/>
              <a:buChar char="•"/>
            </a:pPr>
            <a:r>
              <a:rPr lang="en-US" sz="1300" dirty="0">
                <a:solidFill>
                  <a:srgbClr val="1B2B2E"/>
                </a:solidFill>
                <a:latin typeface="Calibri" pitchFamily="34" charset="0"/>
                <a:ea typeface="Calibri" pitchFamily="34" charset="-122"/>
                <a:cs typeface="Calibri" pitchFamily="34" charset="-120"/>
              </a:rPr>
              <a:t>Measure performance vs. plan</a:t>
            </a:r>
            <a:endParaRPr lang="en-US" sz="1300" dirty="0"/>
          </a:p>
          <a:p>
            <a:pPr marL="152400" indent="-152400">
              <a:lnSpc>
                <a:spcPts val="1700"/>
              </a:lnSpc>
              <a:spcAft>
                <a:spcPts val="600"/>
              </a:spcAft>
              <a:buSzPct val="100000"/>
              <a:buChar char="•"/>
            </a:pPr>
            <a:r>
              <a:rPr lang="en-US" sz="1300" dirty="0">
                <a:solidFill>
                  <a:srgbClr val="1B2B2E"/>
                </a:solidFill>
                <a:latin typeface="Calibri" pitchFamily="34" charset="0"/>
                <a:ea typeface="Calibri" pitchFamily="34" charset="-122"/>
                <a:cs typeface="Calibri" pitchFamily="34" charset="-120"/>
              </a:rPr>
              <a:t>Manage change requests</a:t>
            </a:r>
            <a:endParaRPr lang="en-US" sz="1300" dirty="0"/>
          </a:p>
          <a:p>
            <a:pPr marL="152400" indent="-152400">
              <a:lnSpc>
                <a:spcPts val="1700"/>
              </a:lnSpc>
              <a:spcAft>
                <a:spcPts val="600"/>
              </a:spcAft>
              <a:buSzPct val="100000"/>
              <a:buChar char="•"/>
            </a:pPr>
            <a:r>
              <a:rPr lang="en-US" sz="1300" dirty="0">
                <a:solidFill>
                  <a:srgbClr val="1B2B2E"/>
                </a:solidFill>
                <a:latin typeface="Calibri" pitchFamily="34" charset="0"/>
                <a:ea typeface="Calibri" pitchFamily="34" charset="-122"/>
                <a:cs typeface="Calibri" pitchFamily="34" charset="-120"/>
              </a:rPr>
              <a:t>Control scope creep</a:t>
            </a:r>
            <a:endParaRPr lang="en-US" sz="1300" dirty="0"/>
          </a:p>
          <a:p>
            <a:pPr marL="152400" indent="-152400">
              <a:lnSpc>
                <a:spcPts val="1700"/>
              </a:lnSpc>
              <a:spcAft>
                <a:spcPts val="600"/>
              </a:spcAft>
              <a:buSzPct val="100000"/>
              <a:buChar char="•"/>
            </a:pPr>
            <a:r>
              <a:rPr lang="en-US" sz="1300" dirty="0">
                <a:solidFill>
                  <a:srgbClr val="1B2B2E"/>
                </a:solidFill>
                <a:latin typeface="Calibri" pitchFamily="34" charset="0"/>
                <a:ea typeface="Calibri" pitchFamily="34" charset="-122"/>
                <a:cs typeface="Calibri" pitchFamily="34" charset="-120"/>
              </a:rPr>
              <a:t>Address issues &amp; emerging risks</a:t>
            </a:r>
            <a:endParaRPr lang="en-US" sz="1300" dirty="0"/>
          </a:p>
        </p:txBody>
      </p:sp>
      <p:sp>
        <p:nvSpPr>
          <p:cNvPr id="20" name="Shape 15"/>
          <p:cNvSpPr/>
          <p:nvPr/>
        </p:nvSpPr>
        <p:spPr>
          <a:xfrm>
            <a:off x="4160520" y="3657600"/>
            <a:ext cx="3794760" cy="2743200"/>
          </a:xfrm>
          <a:prstGeom prst="roundRect">
            <a:avLst>
              <a:gd name="adj" fmla="val 3333"/>
            </a:avLst>
          </a:prstGeom>
          <a:solidFill>
            <a:srgbClr val="F4F9F8"/>
          </a:solidFill>
          <a:ln w="12700">
            <a:solidFill>
              <a:srgbClr val="D6E7E5"/>
            </a:solidFill>
            <a:prstDash val="solid"/>
          </a:ln>
        </p:spPr>
      </p:sp>
      <p:sp>
        <p:nvSpPr>
          <p:cNvPr id="21" name="Shape 16"/>
          <p:cNvSpPr/>
          <p:nvPr/>
        </p:nvSpPr>
        <p:spPr>
          <a:xfrm>
            <a:off x="4416552" y="3931920"/>
            <a:ext cx="548640" cy="548640"/>
          </a:xfrm>
          <a:prstGeom prst="ellipse">
            <a:avLst/>
          </a:prstGeom>
          <a:solidFill>
            <a:srgbClr val="00A896"/>
          </a:solidFill>
          <a:ln/>
        </p:spPr>
      </p:sp>
      <p:pic>
        <p:nvPicPr>
          <p:cNvPr id="22" name="Image 3" descr="preencoded.png"/>
          <p:cNvPicPr>
            <a:picLocks noChangeAspect="1"/>
          </p:cNvPicPr>
          <p:nvPr/>
        </p:nvPicPr>
        <p:blipFill>
          <a:blip r:embed="rId6"/>
          <a:stretch>
            <a:fillRect/>
          </a:stretch>
        </p:blipFill>
        <p:spPr>
          <a:xfrm>
            <a:off x="4562856" y="4078224"/>
            <a:ext cx="256032" cy="256032"/>
          </a:xfrm>
          <a:prstGeom prst="rect">
            <a:avLst/>
          </a:prstGeom>
        </p:spPr>
      </p:pic>
      <p:sp>
        <p:nvSpPr>
          <p:cNvPr id="23" name="Text 17"/>
          <p:cNvSpPr/>
          <p:nvPr/>
        </p:nvSpPr>
        <p:spPr>
          <a:xfrm>
            <a:off x="5093208" y="3913632"/>
            <a:ext cx="2697480" cy="603504"/>
          </a:xfrm>
          <a:prstGeom prst="rect">
            <a:avLst/>
          </a:prstGeom>
          <a:noFill/>
          <a:ln/>
        </p:spPr>
        <p:txBody>
          <a:bodyPr wrap="square" lIns="0" tIns="0" rIns="0" bIns="0" rtlCol="0" anchor="ctr"/>
          <a:lstStyle/>
          <a:p>
            <a:pPr marL="0" indent="0">
              <a:buNone/>
            </a:pPr>
            <a:r>
              <a:rPr lang="en-US" sz="1550" b="1" dirty="0">
                <a:solidFill>
                  <a:srgbClr val="0A2E36"/>
                </a:solidFill>
                <a:latin typeface="Calibri" pitchFamily="34" charset="0"/>
                <a:ea typeface="Calibri" pitchFamily="34" charset="-122"/>
                <a:cs typeface="Calibri" pitchFamily="34" charset="-120"/>
              </a:rPr>
              <a:t>Resources Needed</a:t>
            </a:r>
            <a:endParaRPr lang="en-US" sz="1550" dirty="0"/>
          </a:p>
        </p:txBody>
      </p:sp>
      <p:sp>
        <p:nvSpPr>
          <p:cNvPr id="24" name="Text 18"/>
          <p:cNvSpPr/>
          <p:nvPr/>
        </p:nvSpPr>
        <p:spPr>
          <a:xfrm>
            <a:off x="4453128" y="4617720"/>
            <a:ext cx="3246120" cy="1600200"/>
          </a:xfrm>
          <a:prstGeom prst="rect">
            <a:avLst/>
          </a:prstGeom>
          <a:noFill/>
          <a:ln/>
        </p:spPr>
        <p:txBody>
          <a:bodyPr wrap="square" rtlCol="0" anchor="t"/>
          <a:lstStyle/>
          <a:p>
            <a:pPr marL="152400" indent="-152400">
              <a:lnSpc>
                <a:spcPts val="1700"/>
              </a:lnSpc>
              <a:spcAft>
                <a:spcPts val="600"/>
              </a:spcAft>
              <a:buSzPct val="100000"/>
              <a:buChar char="•"/>
            </a:pPr>
            <a:r>
              <a:rPr lang="en-US" sz="1300" dirty="0">
                <a:solidFill>
                  <a:srgbClr val="1B2B2E"/>
                </a:solidFill>
                <a:latin typeface="Calibri" pitchFamily="34" charset="0"/>
                <a:ea typeface="Calibri" pitchFamily="34" charset="-122"/>
                <a:cs typeface="Calibri" pitchFamily="34" charset="-120"/>
              </a:rPr>
              <a:t>Project manager</a:t>
            </a:r>
            <a:endParaRPr lang="en-US" sz="1300" dirty="0"/>
          </a:p>
          <a:p>
            <a:pPr marL="152400" indent="-152400">
              <a:lnSpc>
                <a:spcPts val="1700"/>
              </a:lnSpc>
              <a:spcAft>
                <a:spcPts val="600"/>
              </a:spcAft>
              <a:buSzPct val="100000"/>
              <a:buChar char="•"/>
            </a:pPr>
            <a:r>
              <a:rPr lang="en-US" sz="1300" dirty="0">
                <a:solidFill>
                  <a:srgbClr val="1B2B2E"/>
                </a:solidFill>
                <a:latin typeface="Calibri" pitchFamily="34" charset="0"/>
                <a:ea typeface="Calibri" pitchFamily="34" charset="-122"/>
                <a:cs typeface="Calibri" pitchFamily="34" charset="-120"/>
              </a:rPr>
              <a:t>Tracking tools &amp; KPIs</a:t>
            </a:r>
            <a:endParaRPr lang="en-US" sz="1300" dirty="0"/>
          </a:p>
          <a:p>
            <a:pPr marL="152400" indent="-152400">
              <a:lnSpc>
                <a:spcPts val="1700"/>
              </a:lnSpc>
              <a:spcAft>
                <a:spcPts val="600"/>
              </a:spcAft>
              <a:buSzPct val="100000"/>
              <a:buChar char="•"/>
            </a:pPr>
            <a:r>
              <a:rPr lang="en-US" sz="1300" dirty="0">
                <a:solidFill>
                  <a:srgbClr val="1B2B2E"/>
                </a:solidFill>
                <a:latin typeface="Calibri" pitchFamily="34" charset="0"/>
                <a:ea typeface="Calibri" pitchFamily="34" charset="-122"/>
                <a:cs typeface="Calibri" pitchFamily="34" charset="-120"/>
              </a:rPr>
              <a:t>Performance data</a:t>
            </a:r>
            <a:endParaRPr lang="en-US" sz="1300" dirty="0"/>
          </a:p>
        </p:txBody>
      </p:sp>
      <p:sp>
        <p:nvSpPr>
          <p:cNvPr id="25" name="Shape 19"/>
          <p:cNvSpPr/>
          <p:nvPr/>
        </p:nvSpPr>
        <p:spPr>
          <a:xfrm>
            <a:off x="8275320" y="3657600"/>
            <a:ext cx="3794760" cy="2743200"/>
          </a:xfrm>
          <a:prstGeom prst="roundRect">
            <a:avLst>
              <a:gd name="adj" fmla="val 3333"/>
            </a:avLst>
          </a:prstGeom>
          <a:solidFill>
            <a:srgbClr val="F4F9F8"/>
          </a:solidFill>
          <a:ln w="12700">
            <a:solidFill>
              <a:srgbClr val="D6E7E5"/>
            </a:solidFill>
            <a:prstDash val="solid"/>
          </a:ln>
        </p:spPr>
      </p:sp>
      <p:sp>
        <p:nvSpPr>
          <p:cNvPr id="26" name="Shape 20"/>
          <p:cNvSpPr/>
          <p:nvPr/>
        </p:nvSpPr>
        <p:spPr>
          <a:xfrm>
            <a:off x="8531352" y="3931920"/>
            <a:ext cx="548640" cy="548640"/>
          </a:xfrm>
          <a:prstGeom prst="ellipse">
            <a:avLst/>
          </a:prstGeom>
          <a:solidFill>
            <a:srgbClr val="028090"/>
          </a:solidFill>
          <a:ln/>
        </p:spPr>
      </p:sp>
      <p:pic>
        <p:nvPicPr>
          <p:cNvPr id="27" name="Image 4" descr="preencoded.png"/>
          <p:cNvPicPr>
            <a:picLocks noChangeAspect="1"/>
          </p:cNvPicPr>
          <p:nvPr/>
        </p:nvPicPr>
        <p:blipFill>
          <a:blip r:embed="rId7"/>
          <a:stretch>
            <a:fillRect/>
          </a:stretch>
        </p:blipFill>
        <p:spPr>
          <a:xfrm>
            <a:off x="8677656" y="4078224"/>
            <a:ext cx="256032" cy="256032"/>
          </a:xfrm>
          <a:prstGeom prst="rect">
            <a:avLst/>
          </a:prstGeom>
        </p:spPr>
      </p:pic>
      <p:sp>
        <p:nvSpPr>
          <p:cNvPr id="28" name="Text 21"/>
          <p:cNvSpPr/>
          <p:nvPr/>
        </p:nvSpPr>
        <p:spPr>
          <a:xfrm>
            <a:off x="9208008" y="3913632"/>
            <a:ext cx="2697480" cy="603504"/>
          </a:xfrm>
          <a:prstGeom prst="rect">
            <a:avLst/>
          </a:prstGeom>
          <a:noFill/>
          <a:ln/>
        </p:spPr>
        <p:txBody>
          <a:bodyPr wrap="square" lIns="0" tIns="0" rIns="0" bIns="0" rtlCol="0" anchor="ctr"/>
          <a:lstStyle/>
          <a:p>
            <a:pPr marL="0" indent="0">
              <a:buNone/>
            </a:pPr>
            <a:r>
              <a:rPr lang="en-US" sz="1550" b="1" dirty="0">
                <a:solidFill>
                  <a:srgbClr val="0A2E36"/>
                </a:solidFill>
                <a:latin typeface="Calibri" pitchFamily="34" charset="0"/>
                <a:ea typeface="Calibri" pitchFamily="34" charset="-122"/>
                <a:cs typeface="Calibri" pitchFamily="34" charset="-120"/>
              </a:rPr>
              <a:t>Moves the Project Forward</a:t>
            </a:r>
            <a:endParaRPr lang="en-US" sz="1550" dirty="0"/>
          </a:p>
        </p:txBody>
      </p:sp>
      <p:sp>
        <p:nvSpPr>
          <p:cNvPr id="29" name="Text 22"/>
          <p:cNvSpPr/>
          <p:nvPr/>
        </p:nvSpPr>
        <p:spPr>
          <a:xfrm>
            <a:off x="8567928" y="4617720"/>
            <a:ext cx="3246120" cy="1600200"/>
          </a:xfrm>
          <a:prstGeom prst="rect">
            <a:avLst/>
          </a:prstGeom>
          <a:noFill/>
          <a:ln/>
        </p:spPr>
        <p:txBody>
          <a:bodyPr wrap="square" rtlCol="0" anchor="t"/>
          <a:lstStyle/>
          <a:p>
            <a:pPr marL="0" indent="0">
              <a:lnSpc>
                <a:spcPts val="1900"/>
              </a:lnSpc>
              <a:buNone/>
            </a:pPr>
            <a:r>
              <a:rPr lang="en-US" sz="1350" dirty="0">
                <a:solidFill>
                  <a:srgbClr val="1B2B2E"/>
                </a:solidFill>
                <a:latin typeface="Calibri" pitchFamily="34" charset="0"/>
                <a:ea typeface="Calibri" pitchFamily="34" charset="-122"/>
                <a:cs typeface="Calibri" pitchFamily="34" charset="-120"/>
              </a:rPr>
              <a:t>Catches deviations </a:t>
            </a:r>
            <a:r>
              <a:rPr lang="en-US" sz="1350" dirty="0" smtClean="0">
                <a:solidFill>
                  <a:srgbClr val="1B2B2E"/>
                </a:solidFill>
                <a:latin typeface="Calibri" pitchFamily="34" charset="0"/>
                <a:ea typeface="Calibri" pitchFamily="34" charset="-122"/>
                <a:cs typeface="Calibri" pitchFamily="34" charset="-120"/>
              </a:rPr>
              <a:t>early and corrects small problems before their escalation.</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0A2E36"/>
          </a:solidFill>
          <a:ln/>
        </p:spPr>
      </p:sp>
      <p:sp>
        <p:nvSpPr>
          <p:cNvPr id="4" name="Text 2"/>
          <p:cNvSpPr/>
          <p:nvPr/>
        </p:nvSpPr>
        <p:spPr>
          <a:xfrm>
            <a:off x="502920" y="685800"/>
            <a:ext cx="2743200" cy="365760"/>
          </a:xfrm>
          <a:prstGeom prst="rect">
            <a:avLst/>
          </a:prstGeom>
          <a:noFill/>
          <a:ln/>
        </p:spPr>
        <p:txBody>
          <a:bodyPr wrap="square" rtlCol="0" anchor="ctr"/>
          <a:lstStyle/>
          <a:p>
            <a:pPr marL="0" indent="0">
              <a:buNone/>
            </a:pPr>
            <a:r>
              <a:rPr lang="en-US" sz="1400" b="1" kern="0" spc="400" dirty="0">
                <a:solidFill>
                  <a:srgbClr val="00A896"/>
                </a:solidFill>
                <a:latin typeface="Calibri" pitchFamily="34" charset="0"/>
                <a:ea typeface="Calibri" pitchFamily="34" charset="-122"/>
                <a:cs typeface="Calibri" pitchFamily="34" charset="-120"/>
              </a:rPr>
              <a:t>PHASE</a:t>
            </a:r>
            <a:endParaRPr lang="en-US" sz="1400" dirty="0"/>
          </a:p>
        </p:txBody>
      </p:sp>
      <p:sp>
        <p:nvSpPr>
          <p:cNvPr id="5" name="Text 3"/>
          <p:cNvSpPr/>
          <p:nvPr/>
        </p:nvSpPr>
        <p:spPr>
          <a:xfrm>
            <a:off x="411480" y="868680"/>
            <a:ext cx="3017520" cy="1828800"/>
          </a:xfrm>
          <a:prstGeom prst="rect">
            <a:avLst/>
          </a:prstGeom>
          <a:noFill/>
          <a:ln/>
        </p:spPr>
        <p:txBody>
          <a:bodyPr wrap="square" rtlCol="0" anchor="ctr"/>
          <a:lstStyle/>
          <a:p>
            <a:pPr marL="0" indent="0">
              <a:buNone/>
            </a:pPr>
            <a:r>
              <a:rPr lang="en-US" sz="12000" b="1" dirty="0">
                <a:solidFill>
                  <a:srgbClr val="FFFFFF"/>
                </a:solidFill>
                <a:latin typeface="Cambria" pitchFamily="34" charset="0"/>
                <a:ea typeface="Cambria" pitchFamily="34" charset="-122"/>
                <a:cs typeface="Cambria" pitchFamily="34" charset="-120"/>
              </a:rPr>
              <a:t>5</a:t>
            </a:r>
            <a:endParaRPr lang="en-US" sz="12000" dirty="0"/>
          </a:p>
        </p:txBody>
      </p:sp>
      <p:sp>
        <p:nvSpPr>
          <p:cNvPr id="6" name="Shape 4"/>
          <p:cNvSpPr/>
          <p:nvPr/>
        </p:nvSpPr>
        <p:spPr>
          <a:xfrm>
            <a:off x="525780" y="2903220"/>
            <a:ext cx="1051560" cy="1051560"/>
          </a:xfrm>
          <a:prstGeom prst="ellipse">
            <a:avLst/>
          </a:prstGeom>
          <a:solidFill>
            <a:srgbClr val="02C39A"/>
          </a:solidFill>
          <a:ln/>
        </p:spPr>
      </p:sp>
      <p:pic>
        <p:nvPicPr>
          <p:cNvPr id="7" name="Image 0" descr="preencoded.png"/>
          <p:cNvPicPr>
            <a:picLocks noChangeAspect="1"/>
          </p:cNvPicPr>
          <p:nvPr/>
        </p:nvPicPr>
        <p:blipFill>
          <a:blip r:embed="rId3"/>
          <a:stretch>
            <a:fillRect/>
          </a:stretch>
        </p:blipFill>
        <p:spPr>
          <a:xfrm>
            <a:off x="788670" y="3166110"/>
            <a:ext cx="525780" cy="525780"/>
          </a:xfrm>
          <a:prstGeom prst="rect">
            <a:avLst/>
          </a:prstGeom>
        </p:spPr>
      </p:pic>
      <p:sp>
        <p:nvSpPr>
          <p:cNvPr id="8" name="Text 5"/>
          <p:cNvSpPr/>
          <p:nvPr/>
        </p:nvSpPr>
        <p:spPr>
          <a:xfrm>
            <a:off x="457200" y="4114800"/>
            <a:ext cx="3017520" cy="914400"/>
          </a:xfrm>
          <a:prstGeom prst="rect">
            <a:avLst/>
          </a:prstGeom>
          <a:noFill/>
          <a:ln/>
        </p:spPr>
        <p:txBody>
          <a:bodyPr wrap="square" rtlCol="0" anchor="ctr"/>
          <a:lstStyle/>
          <a:p>
            <a:pPr marL="0" indent="0">
              <a:lnSpc>
                <a:spcPts val="2700"/>
              </a:lnSpc>
              <a:buNone/>
            </a:pPr>
            <a:r>
              <a:rPr lang="en-US" sz="2600" b="1" dirty="0">
                <a:solidFill>
                  <a:srgbClr val="FFFFFF"/>
                </a:solidFill>
                <a:latin typeface="Cambria" pitchFamily="34" charset="0"/>
                <a:ea typeface="Cambria" pitchFamily="34" charset="-122"/>
                <a:cs typeface="Cambria" pitchFamily="34" charset="-120"/>
              </a:rPr>
              <a:t>Closing</a:t>
            </a:r>
            <a:endParaRPr lang="en-US" sz="2600" dirty="0"/>
          </a:p>
        </p:txBody>
      </p:sp>
      <p:sp>
        <p:nvSpPr>
          <p:cNvPr id="9" name="Text 6"/>
          <p:cNvSpPr/>
          <p:nvPr/>
        </p:nvSpPr>
        <p:spPr>
          <a:xfrm>
            <a:off x="502920" y="5166360"/>
            <a:ext cx="2926080" cy="1097280"/>
          </a:xfrm>
          <a:prstGeom prst="rect">
            <a:avLst/>
          </a:prstGeom>
          <a:noFill/>
          <a:ln/>
        </p:spPr>
        <p:txBody>
          <a:bodyPr wrap="square" rtlCol="0" anchor="ctr"/>
          <a:lstStyle/>
          <a:p>
            <a:pPr>
              <a:lnSpc>
                <a:spcPts val="1900"/>
              </a:lnSpc>
            </a:pPr>
            <a:r>
              <a:rPr lang="en-US" sz="1400" i="1" dirty="0">
                <a:solidFill>
                  <a:srgbClr val="B9D6D4"/>
                </a:solidFill>
                <a:latin typeface="Calibri" pitchFamily="34" charset="0"/>
                <a:ea typeface="Calibri" pitchFamily="34" charset="-122"/>
                <a:cs typeface="Calibri" pitchFamily="34" charset="-120"/>
              </a:rPr>
              <a:t>Formally complete the project, hand off the results, and capture what was learned (PMI, </a:t>
            </a:r>
            <a:r>
              <a:rPr lang="en-US" sz="1400" i="1" dirty="0" err="1">
                <a:solidFill>
                  <a:srgbClr val="B9D6D4"/>
                </a:solidFill>
                <a:latin typeface="Calibri" pitchFamily="34" charset="0"/>
                <a:ea typeface="Calibri" pitchFamily="34" charset="-122"/>
                <a:cs typeface="Calibri" pitchFamily="34" charset="-120"/>
              </a:rPr>
              <a:t>n.d</a:t>
            </a:r>
            <a:r>
              <a:rPr lang="en-US" sz="1400" i="1" dirty="0" smtClean="0">
                <a:solidFill>
                  <a:srgbClr val="B9D6D4"/>
                </a:solidFill>
                <a:latin typeface="Calibri" pitchFamily="34" charset="0"/>
                <a:ea typeface="Calibri" pitchFamily="34" charset="-122"/>
                <a:cs typeface="Calibri" pitchFamily="34" charset="-120"/>
              </a:rPr>
              <a:t>).</a:t>
            </a:r>
            <a:endParaRPr lang="en-US" sz="1400" dirty="0"/>
          </a:p>
        </p:txBody>
      </p:sp>
      <p:sp>
        <p:nvSpPr>
          <p:cNvPr id="10" name="Shape 7"/>
          <p:cNvSpPr/>
          <p:nvPr/>
        </p:nvSpPr>
        <p:spPr>
          <a:xfrm>
            <a:off x="4160520" y="594360"/>
            <a:ext cx="3794760" cy="2743200"/>
          </a:xfrm>
          <a:prstGeom prst="roundRect">
            <a:avLst>
              <a:gd name="adj" fmla="val 3333"/>
            </a:avLst>
          </a:prstGeom>
          <a:solidFill>
            <a:srgbClr val="EAF4F3"/>
          </a:solidFill>
          <a:ln w="12700">
            <a:solidFill>
              <a:srgbClr val="D6E7E5"/>
            </a:solidFill>
            <a:prstDash val="solid"/>
          </a:ln>
        </p:spPr>
      </p:sp>
      <p:sp>
        <p:nvSpPr>
          <p:cNvPr id="11" name="Shape 8"/>
          <p:cNvSpPr/>
          <p:nvPr/>
        </p:nvSpPr>
        <p:spPr>
          <a:xfrm>
            <a:off x="4416552" y="868680"/>
            <a:ext cx="548640" cy="548640"/>
          </a:xfrm>
          <a:prstGeom prst="ellipse">
            <a:avLst/>
          </a:prstGeom>
          <a:solidFill>
            <a:srgbClr val="028090"/>
          </a:solidFill>
          <a:ln/>
        </p:spPr>
      </p:sp>
      <p:pic>
        <p:nvPicPr>
          <p:cNvPr id="12" name="Image 1" descr="preencoded.png"/>
          <p:cNvPicPr>
            <a:picLocks noChangeAspect="1"/>
          </p:cNvPicPr>
          <p:nvPr/>
        </p:nvPicPr>
        <p:blipFill>
          <a:blip r:embed="rId4"/>
          <a:stretch>
            <a:fillRect/>
          </a:stretch>
        </p:blipFill>
        <p:spPr>
          <a:xfrm>
            <a:off x="4562856" y="1014984"/>
            <a:ext cx="256032" cy="256032"/>
          </a:xfrm>
          <a:prstGeom prst="rect">
            <a:avLst/>
          </a:prstGeom>
        </p:spPr>
      </p:pic>
      <p:sp>
        <p:nvSpPr>
          <p:cNvPr id="13" name="Text 9"/>
          <p:cNvSpPr/>
          <p:nvPr/>
        </p:nvSpPr>
        <p:spPr>
          <a:xfrm>
            <a:off x="5093208" y="850392"/>
            <a:ext cx="2697480" cy="603504"/>
          </a:xfrm>
          <a:prstGeom prst="rect">
            <a:avLst/>
          </a:prstGeom>
          <a:noFill/>
          <a:ln/>
        </p:spPr>
        <p:txBody>
          <a:bodyPr wrap="square" lIns="0" tIns="0" rIns="0" bIns="0" rtlCol="0" anchor="ctr"/>
          <a:lstStyle/>
          <a:p>
            <a:pPr marL="0" indent="0">
              <a:buNone/>
            </a:pPr>
            <a:r>
              <a:rPr lang="en-US" sz="1550" b="1" dirty="0">
                <a:solidFill>
                  <a:srgbClr val="0A2E36"/>
                </a:solidFill>
                <a:latin typeface="Calibri" pitchFamily="34" charset="0"/>
                <a:ea typeface="Calibri" pitchFamily="34" charset="-122"/>
                <a:cs typeface="Calibri" pitchFamily="34" charset="-120"/>
              </a:rPr>
              <a:t>Purpose</a:t>
            </a:r>
            <a:endParaRPr lang="en-US" sz="1550" dirty="0"/>
          </a:p>
        </p:txBody>
      </p:sp>
      <p:sp>
        <p:nvSpPr>
          <p:cNvPr id="14" name="Text 10"/>
          <p:cNvSpPr/>
          <p:nvPr/>
        </p:nvSpPr>
        <p:spPr>
          <a:xfrm>
            <a:off x="4453128" y="1554480"/>
            <a:ext cx="3246120" cy="1600200"/>
          </a:xfrm>
          <a:prstGeom prst="rect">
            <a:avLst/>
          </a:prstGeom>
          <a:noFill/>
          <a:ln/>
        </p:spPr>
        <p:txBody>
          <a:bodyPr wrap="square" rtlCol="0" anchor="t"/>
          <a:lstStyle/>
          <a:p>
            <a:pPr marL="0" indent="0">
              <a:lnSpc>
                <a:spcPts val="1900"/>
              </a:lnSpc>
              <a:buNone/>
            </a:pPr>
            <a:r>
              <a:rPr lang="en-US" sz="1350" dirty="0">
                <a:solidFill>
                  <a:srgbClr val="1B2B2E"/>
                </a:solidFill>
                <a:latin typeface="Calibri" pitchFamily="34" charset="0"/>
                <a:ea typeface="Calibri" pitchFamily="34" charset="-122"/>
                <a:cs typeface="Calibri" pitchFamily="34" charset="-120"/>
              </a:rPr>
              <a:t>Bring the project to an orderly </a:t>
            </a:r>
            <a:r>
              <a:rPr lang="en-US" sz="1350" dirty="0" smtClean="0">
                <a:solidFill>
                  <a:srgbClr val="1B2B2E"/>
                </a:solidFill>
                <a:latin typeface="Calibri" pitchFamily="34" charset="0"/>
                <a:ea typeface="Calibri" pitchFamily="34" charset="-122"/>
                <a:cs typeface="Calibri" pitchFamily="34" charset="-120"/>
              </a:rPr>
              <a:t>end, given there is meeting of objectives and deliverables reach the owners. </a:t>
            </a:r>
            <a:endParaRPr lang="en-US" sz="1350" dirty="0"/>
          </a:p>
        </p:txBody>
      </p:sp>
      <p:sp>
        <p:nvSpPr>
          <p:cNvPr id="15" name="Shape 11"/>
          <p:cNvSpPr/>
          <p:nvPr/>
        </p:nvSpPr>
        <p:spPr>
          <a:xfrm>
            <a:off x="8275320" y="594360"/>
            <a:ext cx="3794760" cy="2743200"/>
          </a:xfrm>
          <a:prstGeom prst="roundRect">
            <a:avLst>
              <a:gd name="adj" fmla="val 3333"/>
            </a:avLst>
          </a:prstGeom>
          <a:solidFill>
            <a:srgbClr val="F4F9F8"/>
          </a:solidFill>
          <a:ln w="12700">
            <a:solidFill>
              <a:srgbClr val="D6E7E5"/>
            </a:solidFill>
            <a:prstDash val="solid"/>
          </a:ln>
        </p:spPr>
      </p:sp>
      <p:sp>
        <p:nvSpPr>
          <p:cNvPr id="16" name="Shape 12"/>
          <p:cNvSpPr/>
          <p:nvPr/>
        </p:nvSpPr>
        <p:spPr>
          <a:xfrm>
            <a:off x="8531352" y="868680"/>
            <a:ext cx="548640" cy="548640"/>
          </a:xfrm>
          <a:prstGeom prst="ellipse">
            <a:avLst/>
          </a:prstGeom>
          <a:solidFill>
            <a:srgbClr val="00A896"/>
          </a:solidFill>
          <a:ln/>
        </p:spPr>
      </p:sp>
      <p:pic>
        <p:nvPicPr>
          <p:cNvPr id="17" name="Image 2" descr="preencoded.png"/>
          <p:cNvPicPr>
            <a:picLocks noChangeAspect="1"/>
          </p:cNvPicPr>
          <p:nvPr/>
        </p:nvPicPr>
        <p:blipFill>
          <a:blip r:embed="rId5"/>
          <a:stretch>
            <a:fillRect/>
          </a:stretch>
        </p:blipFill>
        <p:spPr>
          <a:xfrm>
            <a:off x="8677656" y="1014984"/>
            <a:ext cx="256032" cy="256032"/>
          </a:xfrm>
          <a:prstGeom prst="rect">
            <a:avLst/>
          </a:prstGeom>
        </p:spPr>
      </p:pic>
      <p:sp>
        <p:nvSpPr>
          <p:cNvPr id="18" name="Text 13"/>
          <p:cNvSpPr/>
          <p:nvPr/>
        </p:nvSpPr>
        <p:spPr>
          <a:xfrm>
            <a:off x="9208008" y="850392"/>
            <a:ext cx="2697480" cy="603504"/>
          </a:xfrm>
          <a:prstGeom prst="rect">
            <a:avLst/>
          </a:prstGeom>
          <a:noFill/>
          <a:ln/>
        </p:spPr>
        <p:txBody>
          <a:bodyPr wrap="square" lIns="0" tIns="0" rIns="0" bIns="0" rtlCol="0" anchor="ctr"/>
          <a:lstStyle/>
          <a:p>
            <a:pPr marL="0" indent="0">
              <a:buNone/>
            </a:pPr>
            <a:r>
              <a:rPr lang="en-US" sz="1550" b="1" dirty="0">
                <a:solidFill>
                  <a:srgbClr val="0A2E36"/>
                </a:solidFill>
                <a:latin typeface="Calibri" pitchFamily="34" charset="0"/>
                <a:ea typeface="Calibri" pitchFamily="34" charset="-122"/>
                <a:cs typeface="Calibri" pitchFamily="34" charset="-120"/>
              </a:rPr>
              <a:t>Key Tasks</a:t>
            </a:r>
            <a:endParaRPr lang="en-US" sz="1550" dirty="0"/>
          </a:p>
        </p:txBody>
      </p:sp>
      <p:sp>
        <p:nvSpPr>
          <p:cNvPr id="19" name="Text 14"/>
          <p:cNvSpPr/>
          <p:nvPr/>
        </p:nvSpPr>
        <p:spPr>
          <a:xfrm>
            <a:off x="8567928" y="1554480"/>
            <a:ext cx="3246120" cy="1600200"/>
          </a:xfrm>
          <a:prstGeom prst="rect">
            <a:avLst/>
          </a:prstGeom>
          <a:noFill/>
          <a:ln/>
        </p:spPr>
        <p:txBody>
          <a:bodyPr wrap="square" rtlCol="0" anchor="t"/>
          <a:lstStyle/>
          <a:p>
            <a:pPr marL="152400" indent="-152400">
              <a:lnSpc>
                <a:spcPts val="1700"/>
              </a:lnSpc>
              <a:spcAft>
                <a:spcPts val="600"/>
              </a:spcAft>
              <a:buSzPct val="100000"/>
              <a:buChar char="•"/>
            </a:pPr>
            <a:r>
              <a:rPr lang="en-US" sz="1300" dirty="0">
                <a:solidFill>
                  <a:srgbClr val="1B2B2E"/>
                </a:solidFill>
                <a:latin typeface="Calibri" pitchFamily="34" charset="0"/>
                <a:ea typeface="Calibri" pitchFamily="34" charset="-122"/>
                <a:cs typeface="Calibri" pitchFamily="34" charset="-120"/>
              </a:rPr>
              <a:t>Deliver &amp; obtain sign-off</a:t>
            </a:r>
            <a:endParaRPr lang="en-US" sz="1300" dirty="0"/>
          </a:p>
          <a:p>
            <a:pPr marL="152400" indent="-152400">
              <a:lnSpc>
                <a:spcPts val="1700"/>
              </a:lnSpc>
              <a:spcAft>
                <a:spcPts val="600"/>
              </a:spcAft>
              <a:buSzPct val="100000"/>
              <a:buChar char="•"/>
            </a:pPr>
            <a:r>
              <a:rPr lang="en-US" sz="1300" dirty="0">
                <a:solidFill>
                  <a:srgbClr val="1B2B2E"/>
                </a:solidFill>
                <a:latin typeface="Calibri" pitchFamily="34" charset="0"/>
                <a:ea typeface="Calibri" pitchFamily="34" charset="-122"/>
                <a:cs typeface="Calibri" pitchFamily="34" charset="-120"/>
              </a:rPr>
              <a:t>Release the team &amp; resources</a:t>
            </a:r>
            <a:endParaRPr lang="en-US" sz="1300" dirty="0"/>
          </a:p>
          <a:p>
            <a:pPr marL="152400" indent="-152400">
              <a:lnSpc>
                <a:spcPts val="1700"/>
              </a:lnSpc>
              <a:spcAft>
                <a:spcPts val="600"/>
              </a:spcAft>
              <a:buSzPct val="100000"/>
              <a:buChar char="•"/>
            </a:pPr>
            <a:r>
              <a:rPr lang="en-US" sz="1300" dirty="0">
                <a:solidFill>
                  <a:srgbClr val="1B2B2E"/>
                </a:solidFill>
                <a:latin typeface="Calibri" pitchFamily="34" charset="0"/>
                <a:ea typeface="Calibri" pitchFamily="34" charset="-122"/>
                <a:cs typeface="Calibri" pitchFamily="34" charset="-120"/>
              </a:rPr>
              <a:t>Document lessons learned</a:t>
            </a:r>
            <a:endParaRPr lang="en-US" sz="1300" dirty="0"/>
          </a:p>
          <a:p>
            <a:pPr marL="152400" indent="-152400">
              <a:lnSpc>
                <a:spcPts val="1700"/>
              </a:lnSpc>
              <a:spcAft>
                <a:spcPts val="600"/>
              </a:spcAft>
              <a:buSzPct val="100000"/>
              <a:buChar char="•"/>
            </a:pPr>
            <a:r>
              <a:rPr lang="en-US" sz="1300" dirty="0">
                <a:solidFill>
                  <a:srgbClr val="1B2B2E"/>
                </a:solidFill>
                <a:latin typeface="Calibri" pitchFamily="34" charset="0"/>
                <a:ea typeface="Calibri" pitchFamily="34" charset="-122"/>
                <a:cs typeface="Calibri" pitchFamily="34" charset="-120"/>
              </a:rPr>
              <a:t>Close out contracts &amp; records</a:t>
            </a:r>
            <a:endParaRPr lang="en-US" sz="1300" dirty="0"/>
          </a:p>
        </p:txBody>
      </p:sp>
      <p:sp>
        <p:nvSpPr>
          <p:cNvPr id="20" name="Shape 15"/>
          <p:cNvSpPr/>
          <p:nvPr/>
        </p:nvSpPr>
        <p:spPr>
          <a:xfrm>
            <a:off x="4160520" y="3657600"/>
            <a:ext cx="3794760" cy="2743200"/>
          </a:xfrm>
          <a:prstGeom prst="roundRect">
            <a:avLst>
              <a:gd name="adj" fmla="val 3333"/>
            </a:avLst>
          </a:prstGeom>
          <a:solidFill>
            <a:srgbClr val="F4F9F8"/>
          </a:solidFill>
          <a:ln w="12700">
            <a:solidFill>
              <a:srgbClr val="D6E7E5"/>
            </a:solidFill>
            <a:prstDash val="solid"/>
          </a:ln>
        </p:spPr>
      </p:sp>
      <p:sp>
        <p:nvSpPr>
          <p:cNvPr id="21" name="Shape 16"/>
          <p:cNvSpPr/>
          <p:nvPr/>
        </p:nvSpPr>
        <p:spPr>
          <a:xfrm>
            <a:off x="4416552" y="3931920"/>
            <a:ext cx="548640" cy="548640"/>
          </a:xfrm>
          <a:prstGeom prst="ellipse">
            <a:avLst/>
          </a:prstGeom>
          <a:solidFill>
            <a:srgbClr val="00A896"/>
          </a:solidFill>
          <a:ln/>
        </p:spPr>
      </p:sp>
      <p:pic>
        <p:nvPicPr>
          <p:cNvPr id="22" name="Image 3" descr="preencoded.png"/>
          <p:cNvPicPr>
            <a:picLocks noChangeAspect="1"/>
          </p:cNvPicPr>
          <p:nvPr/>
        </p:nvPicPr>
        <p:blipFill>
          <a:blip r:embed="rId6"/>
          <a:stretch>
            <a:fillRect/>
          </a:stretch>
        </p:blipFill>
        <p:spPr>
          <a:xfrm>
            <a:off x="4562856" y="4078224"/>
            <a:ext cx="256032" cy="256032"/>
          </a:xfrm>
          <a:prstGeom prst="rect">
            <a:avLst/>
          </a:prstGeom>
        </p:spPr>
      </p:pic>
      <p:sp>
        <p:nvSpPr>
          <p:cNvPr id="23" name="Text 17"/>
          <p:cNvSpPr/>
          <p:nvPr/>
        </p:nvSpPr>
        <p:spPr>
          <a:xfrm>
            <a:off x="5093208" y="3913632"/>
            <a:ext cx="2697480" cy="603504"/>
          </a:xfrm>
          <a:prstGeom prst="rect">
            <a:avLst/>
          </a:prstGeom>
          <a:noFill/>
          <a:ln/>
        </p:spPr>
        <p:txBody>
          <a:bodyPr wrap="square" lIns="0" tIns="0" rIns="0" bIns="0" rtlCol="0" anchor="ctr"/>
          <a:lstStyle/>
          <a:p>
            <a:pPr marL="0" indent="0">
              <a:buNone/>
            </a:pPr>
            <a:r>
              <a:rPr lang="en-US" sz="1550" b="1" dirty="0">
                <a:solidFill>
                  <a:srgbClr val="0A2E36"/>
                </a:solidFill>
                <a:latin typeface="Calibri" pitchFamily="34" charset="0"/>
                <a:ea typeface="Calibri" pitchFamily="34" charset="-122"/>
                <a:cs typeface="Calibri" pitchFamily="34" charset="-120"/>
              </a:rPr>
              <a:t>Resources Needed</a:t>
            </a:r>
            <a:endParaRPr lang="en-US" sz="1550" dirty="0"/>
          </a:p>
        </p:txBody>
      </p:sp>
      <p:sp>
        <p:nvSpPr>
          <p:cNvPr id="24" name="Text 18"/>
          <p:cNvSpPr/>
          <p:nvPr/>
        </p:nvSpPr>
        <p:spPr>
          <a:xfrm>
            <a:off x="4453128" y="4617720"/>
            <a:ext cx="3246120" cy="1600200"/>
          </a:xfrm>
          <a:prstGeom prst="rect">
            <a:avLst/>
          </a:prstGeom>
          <a:noFill/>
          <a:ln/>
        </p:spPr>
        <p:txBody>
          <a:bodyPr wrap="square" rtlCol="0" anchor="t"/>
          <a:lstStyle/>
          <a:p>
            <a:pPr marL="152400" indent="-152400">
              <a:lnSpc>
                <a:spcPts val="1700"/>
              </a:lnSpc>
              <a:spcAft>
                <a:spcPts val="600"/>
              </a:spcAft>
              <a:buSzPct val="100000"/>
              <a:buChar char="•"/>
            </a:pPr>
            <a:r>
              <a:rPr lang="en-US" sz="1300" dirty="0">
                <a:solidFill>
                  <a:srgbClr val="1B2B2E"/>
                </a:solidFill>
                <a:latin typeface="Calibri" pitchFamily="34" charset="0"/>
                <a:ea typeface="Calibri" pitchFamily="34" charset="-122"/>
                <a:cs typeface="Calibri" pitchFamily="34" charset="-120"/>
              </a:rPr>
              <a:t>Project manager</a:t>
            </a:r>
            <a:endParaRPr lang="en-US" sz="1300" dirty="0"/>
          </a:p>
          <a:p>
            <a:pPr marL="152400" indent="-152400">
              <a:lnSpc>
                <a:spcPts val="1700"/>
              </a:lnSpc>
              <a:spcAft>
                <a:spcPts val="600"/>
              </a:spcAft>
              <a:buSzPct val="100000"/>
              <a:buChar char="•"/>
            </a:pPr>
            <a:r>
              <a:rPr lang="en-US" sz="1300" dirty="0">
                <a:solidFill>
                  <a:srgbClr val="1B2B2E"/>
                </a:solidFill>
                <a:latin typeface="Calibri" pitchFamily="34" charset="0"/>
                <a:ea typeface="Calibri" pitchFamily="34" charset="-122"/>
                <a:cs typeface="Calibri" pitchFamily="34" charset="-120"/>
              </a:rPr>
              <a:t>Stakeholders for acceptance</a:t>
            </a:r>
            <a:endParaRPr lang="en-US" sz="1300" dirty="0"/>
          </a:p>
          <a:p>
            <a:pPr marL="152400" indent="-152400">
              <a:lnSpc>
                <a:spcPts val="1700"/>
              </a:lnSpc>
              <a:spcAft>
                <a:spcPts val="600"/>
              </a:spcAft>
              <a:buSzPct val="100000"/>
              <a:buChar char="•"/>
            </a:pPr>
            <a:r>
              <a:rPr lang="en-US" sz="1300" dirty="0">
                <a:solidFill>
                  <a:srgbClr val="1B2B2E"/>
                </a:solidFill>
                <a:latin typeface="Calibri" pitchFamily="34" charset="0"/>
                <a:ea typeface="Calibri" pitchFamily="34" charset="-122"/>
                <a:cs typeface="Calibri" pitchFamily="34" charset="-120"/>
              </a:rPr>
              <a:t>Closeout documentation</a:t>
            </a:r>
            <a:endParaRPr lang="en-US" sz="1300" dirty="0"/>
          </a:p>
        </p:txBody>
      </p:sp>
      <p:sp>
        <p:nvSpPr>
          <p:cNvPr id="25" name="Shape 19"/>
          <p:cNvSpPr/>
          <p:nvPr/>
        </p:nvSpPr>
        <p:spPr>
          <a:xfrm>
            <a:off x="8275320" y="3657600"/>
            <a:ext cx="3794760" cy="2743200"/>
          </a:xfrm>
          <a:prstGeom prst="roundRect">
            <a:avLst>
              <a:gd name="adj" fmla="val 3333"/>
            </a:avLst>
          </a:prstGeom>
          <a:solidFill>
            <a:srgbClr val="F4F9F8"/>
          </a:solidFill>
          <a:ln w="12700">
            <a:solidFill>
              <a:srgbClr val="D6E7E5"/>
            </a:solidFill>
            <a:prstDash val="solid"/>
          </a:ln>
        </p:spPr>
      </p:sp>
      <p:sp>
        <p:nvSpPr>
          <p:cNvPr id="26" name="Shape 20"/>
          <p:cNvSpPr/>
          <p:nvPr/>
        </p:nvSpPr>
        <p:spPr>
          <a:xfrm>
            <a:off x="8531352" y="3931920"/>
            <a:ext cx="548640" cy="548640"/>
          </a:xfrm>
          <a:prstGeom prst="ellipse">
            <a:avLst/>
          </a:prstGeom>
          <a:solidFill>
            <a:srgbClr val="028090"/>
          </a:solidFill>
          <a:ln/>
        </p:spPr>
      </p:sp>
      <p:pic>
        <p:nvPicPr>
          <p:cNvPr id="27" name="Image 4" descr="preencoded.png"/>
          <p:cNvPicPr>
            <a:picLocks noChangeAspect="1"/>
          </p:cNvPicPr>
          <p:nvPr/>
        </p:nvPicPr>
        <p:blipFill>
          <a:blip r:embed="rId7"/>
          <a:stretch>
            <a:fillRect/>
          </a:stretch>
        </p:blipFill>
        <p:spPr>
          <a:xfrm>
            <a:off x="8677656" y="4078224"/>
            <a:ext cx="256032" cy="256032"/>
          </a:xfrm>
          <a:prstGeom prst="rect">
            <a:avLst/>
          </a:prstGeom>
        </p:spPr>
      </p:pic>
      <p:sp>
        <p:nvSpPr>
          <p:cNvPr id="28" name="Text 21"/>
          <p:cNvSpPr/>
          <p:nvPr/>
        </p:nvSpPr>
        <p:spPr>
          <a:xfrm>
            <a:off x="9208008" y="3913632"/>
            <a:ext cx="2697480" cy="603504"/>
          </a:xfrm>
          <a:prstGeom prst="rect">
            <a:avLst/>
          </a:prstGeom>
          <a:noFill/>
          <a:ln/>
        </p:spPr>
        <p:txBody>
          <a:bodyPr wrap="square" lIns="0" tIns="0" rIns="0" bIns="0" rtlCol="0" anchor="ctr"/>
          <a:lstStyle/>
          <a:p>
            <a:pPr marL="0" indent="0">
              <a:buNone/>
            </a:pPr>
            <a:r>
              <a:rPr lang="en-US" sz="1550" b="1" dirty="0">
                <a:solidFill>
                  <a:srgbClr val="0A2E36"/>
                </a:solidFill>
                <a:latin typeface="Calibri" pitchFamily="34" charset="0"/>
                <a:ea typeface="Calibri" pitchFamily="34" charset="-122"/>
                <a:cs typeface="Calibri" pitchFamily="34" charset="-120"/>
              </a:rPr>
              <a:t>Moves the Project Forward</a:t>
            </a:r>
            <a:endParaRPr lang="en-US" sz="1550" dirty="0"/>
          </a:p>
        </p:txBody>
      </p:sp>
      <p:sp>
        <p:nvSpPr>
          <p:cNvPr id="29" name="Text 22"/>
          <p:cNvSpPr/>
          <p:nvPr/>
        </p:nvSpPr>
        <p:spPr>
          <a:xfrm>
            <a:off x="8567928" y="4617720"/>
            <a:ext cx="3246120" cy="1600200"/>
          </a:xfrm>
          <a:prstGeom prst="rect">
            <a:avLst/>
          </a:prstGeom>
          <a:noFill/>
          <a:ln/>
        </p:spPr>
        <p:txBody>
          <a:bodyPr wrap="square" rtlCol="0" anchor="t"/>
          <a:lstStyle/>
          <a:p>
            <a:pPr marL="0" indent="0">
              <a:lnSpc>
                <a:spcPts val="1900"/>
              </a:lnSpc>
              <a:buNone/>
            </a:pPr>
            <a:r>
              <a:rPr lang="en-US" sz="1350" dirty="0" smtClean="0">
                <a:solidFill>
                  <a:srgbClr val="1B2B2E"/>
                </a:solidFill>
                <a:latin typeface="Calibri" pitchFamily="34" charset="0"/>
                <a:ea typeface="Calibri" pitchFamily="34" charset="-122"/>
                <a:cs typeface="Calibri" pitchFamily="34" charset="-120"/>
              </a:rPr>
              <a:t>Sets the pace for starting a new cycle given the findings. </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9F8"/>
        </a:solidFill>
        <a:effectLst/>
      </p:bgPr>
    </p:bg>
    <p:spTree>
      <p:nvGrpSpPr>
        <p:cNvPr id="1" name=""/>
        <p:cNvGrpSpPr/>
        <p:nvPr/>
      </p:nvGrpSpPr>
      <p:grpSpPr>
        <a:xfrm>
          <a:off x="0" y="0"/>
          <a:ext cx="0" cy="0"/>
          <a:chOff x="0" y="0"/>
          <a:chExt cx="0" cy="0"/>
        </a:xfrm>
      </p:grpSpPr>
      <p:sp>
        <p:nvSpPr>
          <p:cNvPr id="2" name="Text 0"/>
          <p:cNvSpPr/>
          <p:nvPr/>
        </p:nvSpPr>
        <p:spPr>
          <a:xfrm>
            <a:off x="640080" y="457200"/>
            <a:ext cx="10058400" cy="640080"/>
          </a:xfrm>
          <a:prstGeom prst="rect">
            <a:avLst/>
          </a:prstGeom>
          <a:noFill/>
          <a:ln/>
        </p:spPr>
        <p:txBody>
          <a:bodyPr wrap="square" rtlCol="0" anchor="ctr"/>
          <a:lstStyle/>
          <a:p>
            <a:r>
              <a:rPr lang="en-US" sz="3400" b="1" dirty="0" smtClean="0">
                <a:solidFill>
                  <a:srgbClr val="0A2E36"/>
                </a:solidFill>
                <a:latin typeface="Cambria" pitchFamily="34" charset="0"/>
                <a:ea typeface="Cambria" pitchFamily="34" charset="-122"/>
                <a:cs typeface="Cambria" pitchFamily="34" charset="-120"/>
              </a:rPr>
              <a:t>References</a:t>
            </a:r>
            <a:endParaRPr lang="en-US" sz="3400" dirty="0">
              <a:solidFill>
                <a:prstClr val="black"/>
              </a:solidFill>
            </a:endParaRPr>
          </a:p>
        </p:txBody>
      </p:sp>
      <p:sp>
        <p:nvSpPr>
          <p:cNvPr id="3" name="Text 1"/>
          <p:cNvSpPr/>
          <p:nvPr/>
        </p:nvSpPr>
        <p:spPr>
          <a:xfrm>
            <a:off x="658368" y="1078992"/>
            <a:ext cx="10972800" cy="365760"/>
          </a:xfrm>
          <a:prstGeom prst="rect">
            <a:avLst/>
          </a:prstGeom>
          <a:noFill/>
          <a:ln/>
        </p:spPr>
        <p:txBody>
          <a:bodyPr wrap="square" rtlCol="0" anchor="ctr"/>
          <a:lstStyle/>
          <a:p>
            <a:r>
              <a:rPr lang="en-US" sz="1500" i="1" dirty="0" smtClean="0">
                <a:solidFill>
                  <a:srgbClr val="028090"/>
                </a:solidFill>
                <a:ea typeface="Calibri" pitchFamily="34" charset="-122"/>
                <a:cs typeface="Calibri" pitchFamily="34" charset="-120"/>
              </a:rPr>
              <a:t>The insights used in this presentation has been retrieved from</a:t>
            </a:r>
            <a:endParaRPr lang="en-US" sz="1500" dirty="0">
              <a:solidFill>
                <a:prstClr val="black"/>
              </a:solidFill>
            </a:endParaRPr>
          </a:p>
        </p:txBody>
      </p:sp>
      <p:sp>
        <p:nvSpPr>
          <p:cNvPr id="4" name="Shape 2"/>
          <p:cNvSpPr/>
          <p:nvPr/>
        </p:nvSpPr>
        <p:spPr>
          <a:xfrm>
            <a:off x="749808" y="1719072"/>
            <a:ext cx="10881360" cy="4343400"/>
          </a:xfrm>
          <a:prstGeom prst="roundRect">
            <a:avLst>
              <a:gd name="adj" fmla="val 2526"/>
            </a:avLst>
          </a:prstGeom>
          <a:solidFill>
            <a:srgbClr val="FFFFFF"/>
          </a:solidFill>
          <a:ln w="19050">
            <a:solidFill>
              <a:srgbClr val="00A896"/>
            </a:solidFill>
            <a:prstDash val="solid"/>
          </a:ln>
        </p:spPr>
      </p:sp>
      <p:pic>
        <p:nvPicPr>
          <p:cNvPr id="6" name="Image 0" descr="preencoded.png"/>
          <p:cNvPicPr>
            <a:picLocks noChangeAspect="1"/>
          </p:cNvPicPr>
          <p:nvPr/>
        </p:nvPicPr>
        <p:blipFill>
          <a:blip r:embed="rId3"/>
          <a:stretch>
            <a:fillRect/>
          </a:stretch>
        </p:blipFill>
        <p:spPr>
          <a:xfrm>
            <a:off x="1069848" y="2212848"/>
            <a:ext cx="329184" cy="329184"/>
          </a:xfrm>
          <a:prstGeom prst="rect">
            <a:avLst/>
          </a:prstGeom>
        </p:spPr>
      </p:pic>
      <p:sp>
        <p:nvSpPr>
          <p:cNvPr id="8" name="Text 5"/>
          <p:cNvSpPr/>
          <p:nvPr/>
        </p:nvSpPr>
        <p:spPr>
          <a:xfrm>
            <a:off x="1069848" y="2200656"/>
            <a:ext cx="7973961" cy="2263189"/>
          </a:xfrm>
          <a:prstGeom prst="rect">
            <a:avLst/>
          </a:prstGeom>
          <a:noFill/>
          <a:ln/>
        </p:spPr>
        <p:txBody>
          <a:bodyPr wrap="square" rtlCol="0" anchor="ctr"/>
          <a:lstStyle/>
          <a:p>
            <a:pPr marL="177800" indent="-177800">
              <a:lnSpc>
                <a:spcPts val="1900"/>
              </a:lnSpc>
              <a:spcAft>
                <a:spcPts val="1200"/>
              </a:spcAft>
              <a:buSzPct val="100000"/>
              <a:buFontTx/>
              <a:buChar char="•"/>
            </a:pPr>
            <a:r>
              <a:rPr lang="en-US" sz="1450" dirty="0" smtClean="0">
                <a:solidFill>
                  <a:srgbClr val="1B2B2E"/>
                </a:solidFill>
                <a:ea typeface="Calibri" pitchFamily="34" charset="-122"/>
                <a:cs typeface="Calibri" pitchFamily="34" charset="-120"/>
              </a:rPr>
              <a:t>American Speech-Language-Hearing Association [ASHA]. (</a:t>
            </a:r>
            <a:r>
              <a:rPr lang="en-US" sz="1450" dirty="0" err="1" smtClean="0">
                <a:solidFill>
                  <a:srgbClr val="1B2B2E"/>
                </a:solidFill>
                <a:ea typeface="Calibri" pitchFamily="34" charset="-122"/>
                <a:cs typeface="Calibri" pitchFamily="34" charset="-120"/>
              </a:rPr>
              <a:t>n.d</a:t>
            </a:r>
            <a:r>
              <a:rPr lang="en-US" sz="1450" dirty="0">
                <a:solidFill>
                  <a:srgbClr val="1B2B2E"/>
                </a:solidFill>
                <a:ea typeface="Calibri" pitchFamily="34" charset="-122"/>
                <a:cs typeface="Calibri" pitchFamily="34" charset="-120"/>
              </a:rPr>
              <a:t>). </a:t>
            </a:r>
            <a:r>
              <a:rPr lang="en-US" sz="1450" i="1" dirty="0">
                <a:solidFill>
                  <a:srgbClr val="1B2B2E"/>
                </a:solidFill>
                <a:ea typeface="Calibri" pitchFamily="34" charset="-122"/>
                <a:cs typeface="Calibri" pitchFamily="34" charset="-120"/>
              </a:rPr>
              <a:t>Conducting a </a:t>
            </a:r>
            <a:r>
              <a:rPr lang="en-US" sz="1450" i="1" dirty="0" smtClean="0">
                <a:solidFill>
                  <a:srgbClr val="1B2B2E"/>
                </a:solidFill>
                <a:ea typeface="Calibri" pitchFamily="34" charset="-122"/>
                <a:cs typeface="Calibri" pitchFamily="34" charset="-120"/>
              </a:rPr>
              <a:t>feasibility study</a:t>
            </a:r>
            <a:r>
              <a:rPr lang="en-US" sz="1450" dirty="0" smtClean="0">
                <a:solidFill>
                  <a:srgbClr val="1B2B2E"/>
                </a:solidFill>
                <a:ea typeface="Calibri" pitchFamily="34" charset="-122"/>
                <a:cs typeface="Calibri" pitchFamily="34" charset="-120"/>
              </a:rPr>
              <a:t>. </a:t>
            </a:r>
            <a:r>
              <a:rPr lang="en-US" sz="1450" dirty="0">
                <a:solidFill>
                  <a:srgbClr val="1B2B2E"/>
                </a:solidFill>
                <a:ea typeface="Calibri" pitchFamily="34" charset="-122"/>
                <a:cs typeface="Calibri" pitchFamily="34" charset="-120"/>
              </a:rPr>
              <a:t>https://www.asha.org/practice/feasibility</a:t>
            </a:r>
            <a:r>
              <a:rPr lang="en-US" sz="1450" dirty="0" smtClean="0">
                <a:solidFill>
                  <a:srgbClr val="1B2B2E"/>
                </a:solidFill>
                <a:ea typeface="Calibri" pitchFamily="34" charset="-122"/>
                <a:cs typeface="Calibri" pitchFamily="34" charset="-120"/>
              </a:rPr>
              <a:t>/</a:t>
            </a:r>
          </a:p>
          <a:p>
            <a:pPr marL="177800" indent="-177800">
              <a:lnSpc>
                <a:spcPts val="1900"/>
              </a:lnSpc>
              <a:spcAft>
                <a:spcPts val="1200"/>
              </a:spcAft>
              <a:buSzPct val="100000"/>
              <a:buFontTx/>
              <a:buChar char="•"/>
            </a:pPr>
            <a:r>
              <a:rPr lang="en-US" sz="1450" dirty="0" smtClean="0">
                <a:solidFill>
                  <a:srgbClr val="1B2B2E"/>
                </a:solidFill>
                <a:ea typeface="Calibri" pitchFamily="34" charset="-122"/>
                <a:cs typeface="Calibri" pitchFamily="34" charset="-120"/>
              </a:rPr>
              <a:t>Corinne, </a:t>
            </a:r>
            <a:r>
              <a:rPr lang="en-US" sz="1450" dirty="0">
                <a:solidFill>
                  <a:srgbClr val="1B2B2E"/>
                </a:solidFill>
                <a:ea typeface="Calibri" pitchFamily="34" charset="-122"/>
                <a:cs typeface="Calibri" pitchFamily="34" charset="-120"/>
              </a:rPr>
              <a:t>M</a:t>
            </a:r>
            <a:r>
              <a:rPr lang="en-US" sz="1450" dirty="0" smtClean="0">
                <a:solidFill>
                  <a:srgbClr val="1B2B2E"/>
                </a:solidFill>
                <a:ea typeface="Calibri" pitchFamily="34" charset="-122"/>
                <a:cs typeface="Calibri" pitchFamily="34" charset="-120"/>
              </a:rPr>
              <a:t>., Michael, </a:t>
            </a:r>
            <a:r>
              <a:rPr lang="en-US" sz="1450" dirty="0">
                <a:solidFill>
                  <a:srgbClr val="1B2B2E"/>
                </a:solidFill>
                <a:ea typeface="Calibri" pitchFamily="34" charset="-122"/>
                <a:cs typeface="Calibri" pitchFamily="34" charset="-120"/>
              </a:rPr>
              <a:t>R</a:t>
            </a:r>
            <a:r>
              <a:rPr lang="en-US" sz="1450" dirty="0" smtClean="0">
                <a:solidFill>
                  <a:srgbClr val="1B2B2E"/>
                </a:solidFill>
                <a:ea typeface="Calibri" pitchFamily="34" charset="-122"/>
                <a:cs typeface="Calibri" pitchFamily="34" charset="-120"/>
              </a:rPr>
              <a:t>., </a:t>
            </a:r>
            <a:r>
              <a:rPr lang="en-US" sz="1450" dirty="0">
                <a:solidFill>
                  <a:srgbClr val="1B2B2E"/>
                </a:solidFill>
                <a:ea typeface="Calibri" pitchFamily="34" charset="-122"/>
                <a:cs typeface="Calibri" pitchFamily="34" charset="-120"/>
              </a:rPr>
              <a:t>&amp; </a:t>
            </a:r>
            <a:r>
              <a:rPr lang="en-US" sz="1450" dirty="0" smtClean="0">
                <a:solidFill>
                  <a:srgbClr val="1B2B2E"/>
                </a:solidFill>
                <a:ea typeface="Calibri" pitchFamily="34" charset="-122"/>
                <a:cs typeface="Calibri" pitchFamily="34" charset="-120"/>
              </a:rPr>
              <a:t>Nancy, E. </a:t>
            </a:r>
            <a:r>
              <a:rPr lang="en-US" sz="1450" dirty="0">
                <a:solidFill>
                  <a:srgbClr val="1B2B2E"/>
                </a:solidFill>
                <a:ea typeface="Calibri" pitchFamily="34" charset="-122"/>
                <a:cs typeface="Calibri" pitchFamily="34" charset="-120"/>
              </a:rPr>
              <a:t>(2016). </a:t>
            </a:r>
            <a:r>
              <a:rPr lang="en-US" sz="1450" i="1" dirty="0">
                <a:solidFill>
                  <a:srgbClr val="1B2B2E"/>
                </a:solidFill>
                <a:ea typeface="Calibri" pitchFamily="34" charset="-122"/>
                <a:cs typeface="Calibri" pitchFamily="34" charset="-120"/>
              </a:rPr>
              <a:t>Operations Management in Healthcare : Strategy and Practice</a:t>
            </a:r>
            <a:r>
              <a:rPr lang="en-US" sz="1450" dirty="0">
                <a:solidFill>
                  <a:srgbClr val="1B2B2E"/>
                </a:solidFill>
                <a:ea typeface="Calibri" pitchFamily="34" charset="-122"/>
                <a:cs typeface="Calibri" pitchFamily="34" charset="-120"/>
              </a:rPr>
              <a:t>. Springer Publishing Company</a:t>
            </a:r>
            <a:r>
              <a:rPr lang="en-US" sz="1450" dirty="0" smtClean="0">
                <a:solidFill>
                  <a:srgbClr val="1B2B2E"/>
                </a:solidFill>
                <a:ea typeface="Calibri" pitchFamily="34" charset="-122"/>
                <a:cs typeface="Calibri" pitchFamily="34" charset="-120"/>
              </a:rPr>
              <a:t>.</a:t>
            </a:r>
          </a:p>
          <a:p>
            <a:pPr marL="177800" indent="-177800">
              <a:lnSpc>
                <a:spcPts val="1900"/>
              </a:lnSpc>
              <a:spcAft>
                <a:spcPts val="1200"/>
              </a:spcAft>
              <a:buSzPct val="100000"/>
              <a:buFontTx/>
              <a:buChar char="•"/>
            </a:pPr>
            <a:r>
              <a:rPr lang="en-US" sz="1450" dirty="0" smtClean="0">
                <a:solidFill>
                  <a:prstClr val="black"/>
                </a:solidFill>
              </a:rPr>
              <a:t>Project Management Institute [PMI]. (</a:t>
            </a:r>
            <a:r>
              <a:rPr lang="en-US" sz="1450" dirty="0" err="1" smtClean="0">
                <a:solidFill>
                  <a:prstClr val="black"/>
                </a:solidFill>
              </a:rPr>
              <a:t>n.d</a:t>
            </a:r>
            <a:r>
              <a:rPr lang="en-US" sz="1450" dirty="0" smtClean="0">
                <a:solidFill>
                  <a:prstClr val="black"/>
                </a:solidFill>
              </a:rPr>
              <a:t>). </a:t>
            </a:r>
            <a:r>
              <a:rPr lang="en-US" sz="1450" i="1" dirty="0">
                <a:solidFill>
                  <a:prstClr val="black"/>
                </a:solidFill>
              </a:rPr>
              <a:t>Project </a:t>
            </a:r>
            <a:r>
              <a:rPr lang="en-US" sz="1450" i="1" dirty="0" smtClean="0">
                <a:solidFill>
                  <a:prstClr val="black"/>
                </a:solidFill>
              </a:rPr>
              <a:t>management</a:t>
            </a:r>
            <a:r>
              <a:rPr lang="en-US" sz="1450" dirty="0">
                <a:solidFill>
                  <a:prstClr val="black"/>
                </a:solidFill>
              </a:rPr>
              <a:t>. https://www.pmi.org/about/what-is-project-management</a:t>
            </a:r>
          </a:p>
        </p:txBody>
      </p:sp>
    </p:spTree>
    <p:extLst>
      <p:ext uri="{BB962C8B-B14F-4D97-AF65-F5344CB8AC3E}">
        <p14:creationId xmlns:p14="http://schemas.microsoft.com/office/powerpoint/2010/main" val="7968323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233</TotalTime>
  <Words>945</Words>
  <Application>Microsoft Office PowerPoint</Application>
  <PresentationFormat>Widescreen</PresentationFormat>
  <Paragraphs>167</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cp:lastModifiedBy>
  <cp:revision>24</cp:revision>
  <dcterms:created xsi:type="dcterms:W3CDTF">2026-07-22T06:04:54Z</dcterms:created>
  <dcterms:modified xsi:type="dcterms:W3CDTF">2026-08-15T02:33:39Z</dcterms:modified>
</cp:coreProperties>
</file>